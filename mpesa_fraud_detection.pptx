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610"/>
  </p:normalViewPr>
  <p:slideViewPr>
    <p:cSldViewPr snapToGrid="0" snapToObjects="1">
      <p:cViewPr varScale="1">
        <p:scale>
          <a:sx n="67" d="100"/>
          <a:sy n="67" d="100"/>
        </p:scale>
        <p:origin x="6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6387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22"/>
        </a:solidFill>
        <a:effectLst/>
      </p:bgPr>
    </p:bg>
    <p:spTree>
      <p:nvGrpSpPr>
        <p:cNvPr id="1" name=""/>
        <p:cNvGrpSpPr/>
        <p:nvPr/>
      </p:nvGrpSpPr>
      <p:grpSpPr>
        <a:xfrm>
          <a:off x="0" y="0"/>
          <a:ext cx="0" cy="0"/>
          <a:chOff x="0" y="0"/>
          <a:chExt cx="0" cy="0"/>
        </a:xfrm>
      </p:grpSpPr>
      <p:sp>
        <p:nvSpPr>
          <p:cNvPr id="2" name="Shape 0"/>
          <p:cNvSpPr/>
          <p:nvPr/>
        </p:nvSpPr>
        <p:spPr>
          <a:xfrm>
            <a:off x="9418320" y="-1645920"/>
            <a:ext cx="5029200" cy="5029200"/>
          </a:xfrm>
          <a:prstGeom prst="ellipse">
            <a:avLst/>
          </a:prstGeom>
          <a:solidFill>
            <a:srgbClr val="0E4A2C"/>
          </a:solidFill>
          <a:ln/>
        </p:spPr>
        <p:txBody>
          <a:bodyPr/>
          <a:lstStyle/>
          <a:p>
            <a:endParaRPr lang="en-KE"/>
          </a:p>
        </p:txBody>
      </p:sp>
      <p:sp>
        <p:nvSpPr>
          <p:cNvPr id="3" name="Shape 1"/>
          <p:cNvSpPr/>
          <p:nvPr/>
        </p:nvSpPr>
        <p:spPr>
          <a:xfrm>
            <a:off x="-1828800" y="4389120"/>
            <a:ext cx="4114800" cy="4114800"/>
          </a:xfrm>
          <a:prstGeom prst="ellipse">
            <a:avLst/>
          </a:prstGeom>
          <a:solidFill>
            <a:srgbClr val="0E4A2C"/>
          </a:solidFill>
          <a:ln/>
        </p:spPr>
        <p:txBody>
          <a:bodyPr/>
          <a:lstStyle/>
          <a:p>
            <a:endParaRPr lang="en-KE"/>
          </a:p>
        </p:txBody>
      </p:sp>
      <p:sp>
        <p:nvSpPr>
          <p:cNvPr id="4" name="Text 2"/>
          <p:cNvSpPr/>
          <p:nvPr/>
        </p:nvSpPr>
        <p:spPr>
          <a:xfrm>
            <a:off x="822960" y="1051560"/>
            <a:ext cx="10515600" cy="365760"/>
          </a:xfrm>
          <a:prstGeom prst="rect">
            <a:avLst/>
          </a:prstGeom>
          <a:noFill/>
          <a:ln/>
        </p:spPr>
        <p:txBody>
          <a:bodyPr wrap="square" rtlCol="0" anchor="ctr"/>
          <a:lstStyle/>
          <a:p>
            <a:pPr marL="0" indent="0">
              <a:buNone/>
            </a:pPr>
            <a:r>
              <a:rPr lang="en-US" sz="1300" b="1" kern="0" spc="200" dirty="0">
                <a:solidFill>
                  <a:srgbClr val="7FD9A5"/>
                </a:solidFill>
                <a:latin typeface="Calibri" pitchFamily="34" charset="0"/>
                <a:ea typeface="Calibri" pitchFamily="34" charset="-122"/>
                <a:cs typeface="Calibri" pitchFamily="34" charset="-120"/>
              </a:rPr>
              <a:t>DAT 3202 · MACHINE LEARNING — CONTINUOUS ASSESSMENT TEST III</a:t>
            </a:r>
            <a:endParaRPr lang="en-US" sz="1300" dirty="0"/>
          </a:p>
        </p:txBody>
      </p:sp>
      <p:sp>
        <p:nvSpPr>
          <p:cNvPr id="5" name="Text 3"/>
          <p:cNvSpPr/>
          <p:nvPr/>
        </p:nvSpPr>
        <p:spPr>
          <a:xfrm>
            <a:off x="822960" y="1508760"/>
            <a:ext cx="10058400" cy="1920240"/>
          </a:xfrm>
          <a:prstGeom prst="rect">
            <a:avLst/>
          </a:prstGeom>
          <a:noFill/>
          <a:ln/>
        </p:spPr>
        <p:txBody>
          <a:bodyPr wrap="square" rtlCol="0" anchor="ctr"/>
          <a:lstStyle/>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Fraud Detection in M-Pesa</a:t>
            </a:r>
            <a:endParaRPr lang="en-US" sz="4200" dirty="0"/>
          </a:p>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Mobile Money Transactions</a:t>
            </a:r>
            <a:endParaRPr lang="en-US" sz="4200" dirty="0"/>
          </a:p>
        </p:txBody>
      </p:sp>
      <p:sp>
        <p:nvSpPr>
          <p:cNvPr id="6" name="Text 4"/>
          <p:cNvSpPr/>
          <p:nvPr/>
        </p:nvSpPr>
        <p:spPr>
          <a:xfrm>
            <a:off x="822960" y="3429000"/>
            <a:ext cx="8778240" cy="822960"/>
          </a:xfrm>
          <a:prstGeom prst="rect">
            <a:avLst/>
          </a:prstGeom>
          <a:noFill/>
          <a:ln/>
        </p:spPr>
        <p:txBody>
          <a:bodyPr wrap="square" rtlCol="0" anchor="ctr"/>
          <a:lstStyle/>
          <a:p>
            <a:pPr marL="0" indent="0">
              <a:buNone/>
            </a:pPr>
            <a:r>
              <a:rPr lang="en-US" sz="1500" i="1" dirty="0">
                <a:solidFill>
                  <a:srgbClr val="D7EFE1"/>
                </a:solidFill>
                <a:latin typeface="Calibri" pitchFamily="34" charset="0"/>
                <a:ea typeface="Calibri" pitchFamily="34" charset="-122"/>
                <a:cs typeface="Calibri" pitchFamily="34" charset="-120"/>
              </a:rPr>
              <a:t>A comparative machine-learning study using KNN, Decision Trees, Artificial Neural Networks and SVM, evaluated with 2-fold cross-validation on 120,000 synthetic M-Pesa transactions.</a:t>
            </a:r>
            <a:endParaRPr lang="en-US" sz="1500" dirty="0"/>
          </a:p>
        </p:txBody>
      </p:sp>
      <p:sp>
        <p:nvSpPr>
          <p:cNvPr id="7" name="Shape 5"/>
          <p:cNvSpPr/>
          <p:nvPr/>
        </p:nvSpPr>
        <p:spPr>
          <a:xfrm>
            <a:off x="822960" y="4434840"/>
            <a:ext cx="2926080" cy="0"/>
          </a:xfrm>
          <a:prstGeom prst="line">
            <a:avLst/>
          </a:prstGeom>
          <a:noFill/>
          <a:ln w="38100">
            <a:solidFill>
              <a:srgbClr val="00A651"/>
            </a:solidFill>
            <a:prstDash val="solid"/>
          </a:ln>
        </p:spPr>
        <p:txBody>
          <a:bodyPr/>
          <a:lstStyle/>
          <a:p>
            <a:endParaRPr lang="en-KE"/>
          </a:p>
        </p:txBody>
      </p:sp>
      <p:sp>
        <p:nvSpPr>
          <p:cNvPr id="8" name="Text 6"/>
          <p:cNvSpPr/>
          <p:nvPr/>
        </p:nvSpPr>
        <p:spPr>
          <a:xfrm>
            <a:off x="822960" y="4709160"/>
            <a:ext cx="731520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Group Members: </a:t>
            </a:r>
            <a:r>
              <a:rPr lang="en-US" sz="1300" b="1" i="1" dirty="0">
                <a:solidFill>
                  <a:srgbClr val="BFE3CC"/>
                </a:solidFill>
                <a:latin typeface="Calibri" pitchFamily="34" charset="0"/>
                <a:ea typeface="Calibri" pitchFamily="34" charset="-122"/>
                <a:cs typeface="Calibri" pitchFamily="34" charset="-120"/>
              </a:rPr>
              <a:t>MAINA ELVIS  - 178916</a:t>
            </a:r>
          </a:p>
          <a:p>
            <a:pPr marL="0" indent="0">
              <a:buNone/>
            </a:pPr>
            <a:r>
              <a:rPr lang="en-US" sz="1300" b="1" i="1" dirty="0">
                <a:solidFill>
                  <a:srgbClr val="BFE3CC"/>
                </a:solidFill>
                <a:latin typeface="Calibri" pitchFamily="34" charset="0"/>
                <a:ea typeface="Calibri" pitchFamily="34" charset="-122"/>
                <a:cs typeface="Calibri" pitchFamily="34" charset="-120"/>
              </a:rPr>
              <a:t>                                SAMUEL WANDA  - 190325</a:t>
            </a:r>
          </a:p>
          <a:p>
            <a:pPr marL="0" indent="0">
              <a:buNone/>
            </a:pPr>
            <a:r>
              <a:rPr lang="en-US" sz="1300" b="1" i="1" dirty="0">
                <a:solidFill>
                  <a:srgbClr val="BFE3CC"/>
                </a:solidFill>
                <a:latin typeface="Calibri" pitchFamily="34" charset="0"/>
                <a:ea typeface="Calibri" pitchFamily="34" charset="-122"/>
                <a:cs typeface="Calibri" pitchFamily="34" charset="-120"/>
              </a:rPr>
              <a:t>                                FLOYD OMBURO - 190095</a:t>
            </a:r>
            <a:endParaRPr lang="en-US" sz="1300" dirty="0"/>
          </a:p>
        </p:txBody>
      </p:sp>
      <p:sp>
        <p:nvSpPr>
          <p:cNvPr id="9" name="Text 7"/>
          <p:cNvSpPr/>
          <p:nvPr/>
        </p:nvSpPr>
        <p:spPr>
          <a:xfrm>
            <a:off x="822960" y="5074920"/>
            <a:ext cx="8229600" cy="320040"/>
          </a:xfrm>
          <a:prstGeom prst="rect">
            <a:avLst/>
          </a:prstGeom>
          <a:noFill/>
          <a:ln/>
        </p:spPr>
        <p:txBody>
          <a:bodyPr wrap="square" rtlCol="0" anchor="ctr"/>
          <a:lstStyle/>
          <a:p>
            <a:pPr marL="0" indent="0">
              <a:buNone/>
            </a:pPr>
            <a:r>
              <a:rPr lang="en-US" sz="1200" dirty="0">
                <a:solidFill>
                  <a:srgbClr val="BFE3CC"/>
                </a:solidFill>
                <a:latin typeface="Calibri" pitchFamily="34" charset="0"/>
                <a:ea typeface="Calibri" pitchFamily="34" charset="-122"/>
                <a:cs typeface="Calibri" pitchFamily="34" charset="-120"/>
              </a:rPr>
              <a:t>Strathmore Institute of Mathematical Sciences · B.Sc. Statistics &amp; Data Science</a:t>
            </a:r>
            <a:endParaRPr lang="en-US" sz="1200" dirty="0"/>
          </a:p>
        </p:txBody>
      </p:sp>
      <p:sp>
        <p:nvSpPr>
          <p:cNvPr id="10" name="Text 8"/>
          <p:cNvSpPr/>
          <p:nvPr/>
        </p:nvSpPr>
        <p:spPr>
          <a:xfrm>
            <a:off x="822960" y="5394960"/>
            <a:ext cx="8229600" cy="320040"/>
          </a:xfrm>
          <a:prstGeom prst="rect">
            <a:avLst/>
          </a:prstGeom>
          <a:noFill/>
          <a:ln/>
        </p:spPr>
        <p:txBody>
          <a:bodyPr wrap="square" rtlCol="0" anchor="ctr"/>
          <a:lstStyle/>
          <a:p>
            <a:pPr marL="0" indent="0">
              <a:buNone/>
            </a:pPr>
            <a:endParaRPr lang="en-US" sz="1200" dirty="0"/>
          </a:p>
        </p:txBody>
      </p:sp>
      <p:sp>
        <p:nvSpPr>
          <p:cNvPr id="11" name="Shape 9"/>
          <p:cNvSpPr/>
          <p:nvPr/>
        </p:nvSpPr>
        <p:spPr>
          <a:xfrm>
            <a:off x="10332720" y="5120640"/>
            <a:ext cx="822960" cy="822960"/>
          </a:xfrm>
          <a:prstGeom prst="ellipse">
            <a:avLst/>
          </a:prstGeom>
          <a:solidFill>
            <a:srgbClr val="00A651"/>
          </a:solidFill>
          <a:ln/>
        </p:spPr>
        <p:txBody>
          <a:bodyPr/>
          <a:lstStyle/>
          <a:p>
            <a:endParaRPr lang="en-KE"/>
          </a:p>
        </p:txBody>
      </p:sp>
      <p:sp>
        <p:nvSpPr>
          <p:cNvPr id="12" name="Text 10"/>
          <p:cNvSpPr/>
          <p:nvPr/>
        </p:nvSpPr>
        <p:spPr>
          <a:xfrm>
            <a:off x="10332720" y="5120640"/>
            <a:ext cx="822960" cy="8229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M</a:t>
            </a:r>
            <a:endParaRPr lang="en-US" sz="3000" dirty="0"/>
          </a:p>
        </p:txBody>
      </p:sp>
      <p:sp>
        <p:nvSpPr>
          <p:cNvPr id="13" name="Text 11"/>
          <p:cNvSpPr/>
          <p:nvPr/>
        </p:nvSpPr>
        <p:spPr>
          <a:xfrm>
            <a:off x="9829800" y="5806440"/>
            <a:ext cx="1828800" cy="274320"/>
          </a:xfrm>
          <a:prstGeom prst="rect">
            <a:avLst/>
          </a:prstGeom>
          <a:noFill/>
          <a:ln/>
        </p:spPr>
        <p:txBody>
          <a:bodyPr wrap="square" rtlCol="0" anchor="ctr"/>
          <a:lstStyle/>
          <a:p>
            <a:pPr marL="0" indent="0" algn="ctr">
              <a:buNone/>
            </a:pPr>
            <a:r>
              <a:rPr lang="en-US" sz="1100" b="1" kern="0" spc="200" dirty="0">
                <a:solidFill>
                  <a:srgbClr val="7FD9A5"/>
                </a:solidFill>
                <a:latin typeface="Calibri" pitchFamily="34" charset="0"/>
                <a:ea typeface="Calibri" pitchFamily="34" charset="-122"/>
                <a:cs typeface="Calibri" pitchFamily="34" charset="-120"/>
              </a:rPr>
              <a:t>PESA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marL="0" indent="0">
              <a:buNone/>
            </a:pPr>
            <a:r>
              <a:rPr lang="en-US" sz="3000" b="1" dirty="0">
                <a:solidFill>
                  <a:srgbClr val="1B1B1B"/>
                </a:solidFill>
                <a:latin typeface="Cambria" pitchFamily="34" charset="0"/>
                <a:ea typeface="Cambria" pitchFamily="34" charset="-122"/>
                <a:cs typeface="Cambria" pitchFamily="34" charset="-120"/>
              </a:rPr>
              <a:t>The Problem</a:t>
            </a:r>
            <a:endParaRPr lang="en-US" sz="3000" dirty="0"/>
          </a:p>
        </p:txBody>
      </p:sp>
      <p:sp>
        <p:nvSpPr>
          <p:cNvPr id="3" name="Text 1"/>
          <p:cNvSpPr/>
          <p:nvPr/>
        </p:nvSpPr>
        <p:spPr>
          <a:xfrm>
            <a:off x="548640" y="914400"/>
            <a:ext cx="8229600" cy="365760"/>
          </a:xfrm>
          <a:prstGeom prst="rect">
            <a:avLst/>
          </a:prstGeom>
          <a:noFill/>
          <a:ln/>
        </p:spPr>
        <p:txBody>
          <a:bodyPr wrap="square" rtlCol="0" anchor="ctr"/>
          <a:lstStyle/>
          <a:p>
            <a:pPr marL="0" indent="0">
              <a:buNone/>
            </a:pPr>
            <a:r>
              <a:rPr lang="en-US" sz="1400" i="1" dirty="0">
                <a:solidFill>
                  <a:srgbClr val="5B6B62"/>
                </a:solidFill>
                <a:latin typeface="Calibri" pitchFamily="34" charset="0"/>
                <a:ea typeface="Calibri" pitchFamily="34" charset="-122"/>
                <a:cs typeface="Calibri" pitchFamily="34" charset="-120"/>
              </a:rPr>
              <a:t>Why mobile-money fraud detection matters for Kenya</a:t>
            </a:r>
            <a:endParaRPr lang="en-US" sz="1400" dirty="0"/>
          </a:p>
        </p:txBody>
      </p:sp>
      <p:sp>
        <p:nvSpPr>
          <p:cNvPr id="4" name="Text 2"/>
          <p:cNvSpPr/>
          <p:nvPr/>
        </p:nvSpPr>
        <p:spPr>
          <a:xfrm>
            <a:off x="548640" y="1417320"/>
            <a:ext cx="6400800" cy="2194560"/>
          </a:xfrm>
          <a:prstGeom prst="rect">
            <a:avLst/>
          </a:prstGeom>
          <a:noFill/>
          <a:ln/>
        </p:spPr>
        <p:txBody>
          <a:bodyPr wrap="square" rtlCol="0" anchor="t"/>
          <a:lstStyle/>
          <a:p>
            <a:pPr marL="0" indent="0">
              <a:lnSpc>
                <a:spcPct val="125000"/>
              </a:lnSpc>
              <a:buNone/>
            </a:pPr>
            <a:r>
              <a:rPr lang="en-US" sz="1350" dirty="0">
                <a:solidFill>
                  <a:srgbClr val="1B1B1B"/>
                </a:solidFill>
                <a:latin typeface="Calibri" pitchFamily="34" charset="0"/>
                <a:ea typeface="Calibri" pitchFamily="34" charset="-122"/>
                <a:cs typeface="Calibri" pitchFamily="34" charset="-120"/>
              </a:rPr>
              <a:t>M-Pesa processes tens of millions of person-to-person, till, and paybill transactions every day, moving a value equivalent to a large share of Kenya's GDP through agent networks and phones rather than bank branches. As mobile money becomes the primary financial rail for millions of unbanked and underbanked Kenyans, it has also become a growing target for SIM-swap fraud, social-engineering scams, and agent-level abuse.</a:t>
            </a:r>
            <a:endParaRPr lang="en-US" sz="1350" dirty="0"/>
          </a:p>
        </p:txBody>
      </p:sp>
      <p:sp>
        <p:nvSpPr>
          <p:cNvPr id="5" name="Shape 3"/>
          <p:cNvSpPr/>
          <p:nvPr/>
        </p:nvSpPr>
        <p:spPr>
          <a:xfrm>
            <a:off x="7315200" y="1417320"/>
            <a:ext cx="4343400" cy="1051560"/>
          </a:xfrm>
          <a:prstGeom prst="roundRect">
            <a:avLst>
              <a:gd name="adj" fmla="val 6957"/>
            </a:avLst>
          </a:prstGeom>
          <a:solidFill>
            <a:srgbClr val="F2F8F4"/>
          </a:solidFill>
          <a:ln/>
        </p:spPr>
        <p:txBody>
          <a:bodyPr/>
          <a:lstStyle/>
          <a:p>
            <a:endParaRPr lang="en-KE"/>
          </a:p>
        </p:txBody>
      </p:sp>
      <p:sp>
        <p:nvSpPr>
          <p:cNvPr id="6" name="Text 4"/>
          <p:cNvSpPr/>
          <p:nvPr/>
        </p:nvSpPr>
        <p:spPr>
          <a:xfrm>
            <a:off x="7543800" y="1508760"/>
            <a:ext cx="1371600" cy="868680"/>
          </a:xfrm>
          <a:prstGeom prst="rect">
            <a:avLst/>
          </a:prstGeom>
          <a:noFill/>
          <a:ln/>
        </p:spPr>
        <p:txBody>
          <a:bodyPr wrap="square" rtlCol="0" anchor="ctr"/>
          <a:lstStyle/>
          <a:p>
            <a:pPr marL="0" indent="0">
              <a:buNone/>
            </a:pPr>
            <a:r>
              <a:rPr lang="en-US" sz="2800" b="1" dirty="0">
                <a:solidFill>
                  <a:srgbClr val="00A651"/>
                </a:solidFill>
                <a:latin typeface="Cambria" pitchFamily="34" charset="0"/>
                <a:ea typeface="Cambria" pitchFamily="34" charset="-122"/>
                <a:cs typeface="Cambria" pitchFamily="34" charset="-120"/>
              </a:rPr>
              <a:t>~96%</a:t>
            </a:r>
            <a:endParaRPr lang="en-US" sz="2800" dirty="0"/>
          </a:p>
        </p:txBody>
      </p:sp>
      <p:sp>
        <p:nvSpPr>
          <p:cNvPr id="7" name="Text 5"/>
          <p:cNvSpPr/>
          <p:nvPr/>
        </p:nvSpPr>
        <p:spPr>
          <a:xfrm>
            <a:off x="8869680" y="1508760"/>
            <a:ext cx="2651760" cy="868680"/>
          </a:xfrm>
          <a:prstGeom prst="rect">
            <a:avLst/>
          </a:prstGeom>
          <a:noFill/>
          <a:ln/>
        </p:spPr>
        <p:txBody>
          <a:bodyPr wrap="square" rtlCol="0" anchor="ctr"/>
          <a:lstStyle/>
          <a:p>
            <a:pPr marL="0" indent="0">
              <a:buNone/>
            </a:pPr>
            <a:r>
              <a:rPr lang="en-US" sz="1050" dirty="0">
                <a:solidFill>
                  <a:srgbClr val="1B1B1B"/>
                </a:solidFill>
                <a:latin typeface="Calibri" pitchFamily="34" charset="0"/>
                <a:ea typeface="Calibri" pitchFamily="34" charset="-122"/>
                <a:cs typeface="Calibri" pitchFamily="34" charset="-120"/>
              </a:rPr>
              <a:t>of Kenyan households use mobile money as their primary financial service</a:t>
            </a:r>
            <a:endParaRPr lang="en-US" sz="1050" dirty="0"/>
          </a:p>
        </p:txBody>
      </p:sp>
      <p:sp>
        <p:nvSpPr>
          <p:cNvPr id="8" name="Shape 6"/>
          <p:cNvSpPr/>
          <p:nvPr/>
        </p:nvSpPr>
        <p:spPr>
          <a:xfrm>
            <a:off x="7315200" y="2651760"/>
            <a:ext cx="4343400" cy="1051560"/>
          </a:xfrm>
          <a:prstGeom prst="roundRect">
            <a:avLst>
              <a:gd name="adj" fmla="val 6957"/>
            </a:avLst>
          </a:prstGeom>
          <a:solidFill>
            <a:srgbClr val="F2F8F4"/>
          </a:solidFill>
          <a:ln/>
        </p:spPr>
        <p:txBody>
          <a:bodyPr/>
          <a:lstStyle/>
          <a:p>
            <a:endParaRPr lang="en-KE"/>
          </a:p>
        </p:txBody>
      </p:sp>
      <p:sp>
        <p:nvSpPr>
          <p:cNvPr id="9" name="Text 7"/>
          <p:cNvSpPr/>
          <p:nvPr/>
        </p:nvSpPr>
        <p:spPr>
          <a:xfrm>
            <a:off x="7543800" y="2743200"/>
            <a:ext cx="1371600" cy="868680"/>
          </a:xfrm>
          <a:prstGeom prst="rect">
            <a:avLst/>
          </a:prstGeom>
          <a:noFill/>
          <a:ln/>
        </p:spPr>
        <p:txBody>
          <a:bodyPr wrap="square" rtlCol="0" anchor="ctr"/>
          <a:lstStyle/>
          <a:p>
            <a:pPr marL="0" indent="0">
              <a:buNone/>
            </a:pPr>
            <a:r>
              <a:rPr lang="en-US" sz="2800" b="1" dirty="0">
                <a:solidFill>
                  <a:srgbClr val="00A651"/>
                </a:solidFill>
                <a:latin typeface="Cambria" pitchFamily="34" charset="0"/>
                <a:ea typeface="Cambria" pitchFamily="34" charset="-122"/>
                <a:cs typeface="Cambria" pitchFamily="34" charset="-120"/>
              </a:rPr>
              <a:t>120K</a:t>
            </a:r>
            <a:endParaRPr lang="en-US" sz="2800" dirty="0"/>
          </a:p>
        </p:txBody>
      </p:sp>
      <p:sp>
        <p:nvSpPr>
          <p:cNvPr id="10" name="Text 8"/>
          <p:cNvSpPr/>
          <p:nvPr/>
        </p:nvSpPr>
        <p:spPr>
          <a:xfrm>
            <a:off x="8869680" y="2743200"/>
            <a:ext cx="2651760" cy="868680"/>
          </a:xfrm>
          <a:prstGeom prst="rect">
            <a:avLst/>
          </a:prstGeom>
          <a:noFill/>
          <a:ln/>
        </p:spPr>
        <p:txBody>
          <a:bodyPr wrap="square" rtlCol="0" anchor="ctr"/>
          <a:lstStyle/>
          <a:p>
            <a:pPr marL="0" indent="0">
              <a:buNone/>
            </a:pPr>
            <a:r>
              <a:rPr lang="en-US" sz="1050" dirty="0">
                <a:solidFill>
                  <a:srgbClr val="1B1B1B"/>
                </a:solidFill>
                <a:latin typeface="Calibri" pitchFamily="34" charset="0"/>
                <a:ea typeface="Calibri" pitchFamily="34" charset="-122"/>
                <a:cs typeface="Calibri" pitchFamily="34" charset="-120"/>
              </a:rPr>
              <a:t>synthetic transactions modeled in this project across 5 Kenyan regions</a:t>
            </a:r>
            <a:endParaRPr lang="en-US" sz="1050" dirty="0"/>
          </a:p>
        </p:txBody>
      </p:sp>
      <p:sp>
        <p:nvSpPr>
          <p:cNvPr id="11" name="Shape 9"/>
          <p:cNvSpPr/>
          <p:nvPr/>
        </p:nvSpPr>
        <p:spPr>
          <a:xfrm>
            <a:off x="7315200" y="3886200"/>
            <a:ext cx="4343400" cy="1051560"/>
          </a:xfrm>
          <a:prstGeom prst="roundRect">
            <a:avLst>
              <a:gd name="adj" fmla="val 6957"/>
            </a:avLst>
          </a:prstGeom>
          <a:solidFill>
            <a:srgbClr val="F2F8F4"/>
          </a:solidFill>
          <a:ln/>
        </p:spPr>
        <p:txBody>
          <a:bodyPr/>
          <a:lstStyle/>
          <a:p>
            <a:endParaRPr lang="en-KE"/>
          </a:p>
        </p:txBody>
      </p:sp>
      <p:sp>
        <p:nvSpPr>
          <p:cNvPr id="12" name="Text 10"/>
          <p:cNvSpPr/>
          <p:nvPr/>
        </p:nvSpPr>
        <p:spPr>
          <a:xfrm>
            <a:off x="7543800" y="3977640"/>
            <a:ext cx="1371600" cy="868680"/>
          </a:xfrm>
          <a:prstGeom prst="rect">
            <a:avLst/>
          </a:prstGeom>
          <a:noFill/>
          <a:ln/>
        </p:spPr>
        <p:txBody>
          <a:bodyPr wrap="square" rtlCol="0" anchor="ctr"/>
          <a:lstStyle/>
          <a:p>
            <a:pPr marL="0" indent="0">
              <a:buNone/>
            </a:pPr>
            <a:r>
              <a:rPr lang="en-US" sz="2800" b="1" dirty="0">
                <a:solidFill>
                  <a:srgbClr val="00A651"/>
                </a:solidFill>
                <a:latin typeface="Cambria" pitchFamily="34" charset="0"/>
                <a:ea typeface="Cambria" pitchFamily="34" charset="-122"/>
                <a:cs typeface="Cambria" pitchFamily="34" charset="-120"/>
              </a:rPr>
              <a:t>2.9%</a:t>
            </a:r>
            <a:endParaRPr lang="en-US" sz="2800" dirty="0"/>
          </a:p>
        </p:txBody>
      </p:sp>
      <p:sp>
        <p:nvSpPr>
          <p:cNvPr id="13" name="Text 11"/>
          <p:cNvSpPr/>
          <p:nvPr/>
        </p:nvSpPr>
        <p:spPr>
          <a:xfrm>
            <a:off x="8869680" y="3977640"/>
            <a:ext cx="2651760" cy="868680"/>
          </a:xfrm>
          <a:prstGeom prst="rect">
            <a:avLst/>
          </a:prstGeom>
          <a:noFill/>
          <a:ln/>
        </p:spPr>
        <p:txBody>
          <a:bodyPr wrap="square" rtlCol="0" anchor="ctr"/>
          <a:lstStyle/>
          <a:p>
            <a:pPr marL="0" indent="0">
              <a:buNone/>
            </a:pPr>
            <a:r>
              <a:rPr lang="en-US" sz="1050" dirty="0">
                <a:solidFill>
                  <a:srgbClr val="1B1B1B"/>
                </a:solidFill>
                <a:latin typeface="Calibri" pitchFamily="34" charset="0"/>
                <a:ea typeface="Calibri" pitchFamily="34" charset="-122"/>
                <a:cs typeface="Calibri" pitchFamily="34" charset="-120"/>
              </a:rPr>
              <a:t>of transactions in the dataset are labeled fraudulent — a realistic, highly imbalanced rate</a:t>
            </a:r>
            <a:endParaRPr lang="en-US" sz="1050" dirty="0"/>
          </a:p>
        </p:txBody>
      </p:sp>
      <p:sp>
        <p:nvSpPr>
          <p:cNvPr id="14" name="Shape 12"/>
          <p:cNvSpPr/>
          <p:nvPr/>
        </p:nvSpPr>
        <p:spPr>
          <a:xfrm>
            <a:off x="548640" y="3977640"/>
            <a:ext cx="11109960" cy="2011680"/>
          </a:xfrm>
          <a:prstGeom prst="roundRect">
            <a:avLst>
              <a:gd name="adj" fmla="val 3636"/>
            </a:avLst>
          </a:prstGeom>
          <a:solidFill>
            <a:srgbClr val="0B3B22"/>
          </a:solidFill>
          <a:ln/>
        </p:spPr>
        <p:txBody>
          <a:bodyPr/>
          <a:lstStyle/>
          <a:p>
            <a:endParaRPr lang="en-KE"/>
          </a:p>
        </p:txBody>
      </p:sp>
      <p:sp>
        <p:nvSpPr>
          <p:cNvPr id="15" name="Text 13"/>
          <p:cNvSpPr/>
          <p:nvPr/>
        </p:nvSpPr>
        <p:spPr>
          <a:xfrm>
            <a:off x="868680" y="4160520"/>
            <a:ext cx="822960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this matters, socially and economically</a:t>
            </a:r>
            <a:endParaRPr lang="en-US" sz="1500" dirty="0"/>
          </a:p>
        </p:txBody>
      </p:sp>
      <p:sp>
        <p:nvSpPr>
          <p:cNvPr id="16" name="Text 14"/>
          <p:cNvSpPr/>
          <p:nvPr/>
        </p:nvSpPr>
        <p:spPr>
          <a:xfrm>
            <a:off x="868680" y="4526280"/>
            <a:ext cx="10515600" cy="1371600"/>
          </a:xfrm>
          <a:prstGeom prst="rect">
            <a:avLst/>
          </a:prstGeom>
          <a:noFill/>
          <a:ln/>
        </p:spPr>
        <p:txBody>
          <a:bodyPr wrap="square" rtlCol="0" anchor="ctr"/>
          <a:lstStyle/>
          <a:p>
            <a:pPr marL="0" indent="0">
              <a:lnSpc>
                <a:spcPct val="115000"/>
              </a:lnSpc>
              <a:buNone/>
            </a:pPr>
            <a:r>
              <a:rPr lang="en-US" sz="1150" b="1" dirty="0">
                <a:solidFill>
                  <a:srgbClr val="00A651"/>
                </a:solidFill>
                <a:latin typeface="Calibri" pitchFamily="34" charset="0"/>
                <a:ea typeface="Calibri" pitchFamily="34" charset="-122"/>
                <a:cs typeface="Calibri" pitchFamily="34" charset="-120"/>
              </a:rPr>
              <a:t>Financial inclusion: </a:t>
            </a:r>
            <a:r>
              <a:rPr lang="en-US" sz="1150" dirty="0">
                <a:solidFill>
                  <a:srgbClr val="E9F5EE"/>
                </a:solidFill>
                <a:latin typeface="Calibri" pitchFamily="34" charset="0"/>
                <a:ea typeface="Calibri" pitchFamily="34" charset="-122"/>
                <a:cs typeface="Calibri" pitchFamily="34" charset="-120"/>
              </a:rPr>
              <a:t>undetected fraud erodes trust in mobile money, the main entry point to formal finance for rural and low-income Kenyans.
</a:t>
            </a:r>
            <a:r>
              <a:rPr lang="en-US" sz="1150" b="1" dirty="0">
                <a:solidFill>
                  <a:srgbClr val="00A651"/>
                </a:solidFill>
                <a:latin typeface="Calibri" pitchFamily="34" charset="0"/>
                <a:ea typeface="Calibri" pitchFamily="34" charset="-122"/>
                <a:cs typeface="Calibri" pitchFamily="34" charset="-120"/>
              </a:rPr>
              <a:t>Economic significance: </a:t>
            </a:r>
            <a:r>
              <a:rPr lang="en-US" sz="1150" dirty="0">
                <a:solidFill>
                  <a:srgbClr val="E9F5EE"/>
                </a:solidFill>
                <a:latin typeface="Calibri" pitchFamily="34" charset="0"/>
                <a:ea typeface="Calibri" pitchFamily="34" charset="-122"/>
                <a:cs typeface="Calibri" pitchFamily="34" charset="-120"/>
              </a:rPr>
              <a:t>fraud losses affect agents, small merchants, and Safaricom's compliance costs directly.
</a:t>
            </a:r>
            <a:r>
              <a:rPr lang="en-US" sz="1150" b="1" dirty="0">
                <a:solidFill>
                  <a:srgbClr val="00A651"/>
                </a:solidFill>
                <a:latin typeface="Calibri" pitchFamily="34" charset="0"/>
                <a:ea typeface="Calibri" pitchFamily="34" charset="-122"/>
                <a:cs typeface="Calibri" pitchFamily="34" charset="-120"/>
              </a:rPr>
              <a:t>Regional relevance: </a:t>
            </a:r>
            <a:r>
              <a:rPr lang="en-US" sz="1150" dirty="0">
                <a:solidFill>
                  <a:srgbClr val="E9F5EE"/>
                </a:solidFill>
                <a:latin typeface="Calibri" pitchFamily="34" charset="0"/>
                <a:ea typeface="Calibri" pitchFamily="34" charset="-122"/>
                <a:cs typeface="Calibri" pitchFamily="34" charset="-120"/>
              </a:rPr>
              <a:t>Kenya's regulatory push (Central Bank of Kenya, Communications Authority SIM-registration rules) makes automated, explainable fraud screening a live policy priority.</a:t>
            </a:r>
            <a:endParaRPr lang="en-US" sz="1150" dirty="0"/>
          </a:p>
        </p:txBody>
      </p:sp>
      <p:sp>
        <p:nvSpPr>
          <p:cNvPr id="17" name="Text 15"/>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B62"/>
                </a:solidFill>
                <a:latin typeface="Calibri" pitchFamily="34" charset="0"/>
                <a:ea typeface="Calibri" pitchFamily="34" charset="-122"/>
                <a:cs typeface="Calibri" pitchFamily="34" charset="-120"/>
              </a:rPr>
              <a:t>DAT 3202 · Machine Learning Mini Project · M-Pesa Fraud Detection</a:t>
            </a:r>
            <a:endParaRPr lang="en-US" sz="900" dirty="0"/>
          </a:p>
        </p:txBody>
      </p:sp>
      <p:sp>
        <p:nvSpPr>
          <p:cNvPr id="18" name="Text 16"/>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B6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marL="0" indent="0">
              <a:buNone/>
            </a:pPr>
            <a:r>
              <a:rPr lang="en-US" sz="3000" b="1" dirty="0">
                <a:solidFill>
                  <a:srgbClr val="1B1B1B"/>
                </a:solidFill>
                <a:latin typeface="Cambria" pitchFamily="34" charset="0"/>
                <a:ea typeface="Cambria" pitchFamily="34" charset="-122"/>
                <a:cs typeface="Cambria" pitchFamily="34" charset="-120"/>
              </a:rPr>
              <a:t>Related Work</a:t>
            </a:r>
            <a:endParaRPr lang="en-US" sz="3000" dirty="0"/>
          </a:p>
        </p:txBody>
      </p:sp>
      <p:sp>
        <p:nvSpPr>
          <p:cNvPr id="3" name="Text 1"/>
          <p:cNvSpPr/>
          <p:nvPr/>
        </p:nvSpPr>
        <p:spPr>
          <a:xfrm>
            <a:off x="548640" y="914400"/>
            <a:ext cx="9144000" cy="365760"/>
          </a:xfrm>
          <a:prstGeom prst="rect">
            <a:avLst/>
          </a:prstGeom>
          <a:noFill/>
          <a:ln/>
        </p:spPr>
        <p:txBody>
          <a:bodyPr wrap="square" rtlCol="0" anchor="ctr"/>
          <a:lstStyle/>
          <a:p>
            <a:pPr marL="0" indent="0">
              <a:buNone/>
            </a:pPr>
            <a:r>
              <a:rPr lang="en-US" sz="1400" i="1" dirty="0">
                <a:solidFill>
                  <a:srgbClr val="5B6B62"/>
                </a:solidFill>
                <a:latin typeface="Calibri" pitchFamily="34" charset="0"/>
                <a:ea typeface="Calibri" pitchFamily="34" charset="-122"/>
                <a:cs typeface="Calibri" pitchFamily="34" charset="-120"/>
              </a:rPr>
              <a:t>Prior machine-learning approaches to mobile-money and transaction fraud</a:t>
            </a:r>
            <a:endParaRPr lang="en-US" sz="1400" dirty="0"/>
          </a:p>
        </p:txBody>
      </p:sp>
      <p:sp>
        <p:nvSpPr>
          <p:cNvPr id="4" name="Shape 2"/>
          <p:cNvSpPr/>
          <p:nvPr/>
        </p:nvSpPr>
        <p:spPr>
          <a:xfrm>
            <a:off x="548640" y="1417320"/>
            <a:ext cx="5394960" cy="1965960"/>
          </a:xfrm>
          <a:prstGeom prst="roundRect">
            <a:avLst>
              <a:gd name="adj" fmla="val 3721"/>
            </a:avLst>
          </a:prstGeom>
          <a:solidFill>
            <a:srgbClr val="F2F8F4"/>
          </a:solidFill>
          <a:ln/>
        </p:spPr>
        <p:txBody>
          <a:bodyPr/>
          <a:lstStyle/>
          <a:p>
            <a:endParaRPr lang="en-KE"/>
          </a:p>
        </p:txBody>
      </p:sp>
      <p:sp>
        <p:nvSpPr>
          <p:cNvPr id="5" name="Shape 3"/>
          <p:cNvSpPr/>
          <p:nvPr/>
        </p:nvSpPr>
        <p:spPr>
          <a:xfrm>
            <a:off x="777240" y="1645920"/>
            <a:ext cx="457200" cy="457200"/>
          </a:xfrm>
          <a:prstGeom prst="ellipse">
            <a:avLst/>
          </a:prstGeom>
          <a:solidFill>
            <a:srgbClr val="00A651"/>
          </a:solidFill>
          <a:ln/>
        </p:spPr>
        <p:txBody>
          <a:bodyPr/>
          <a:lstStyle/>
          <a:p>
            <a:endParaRPr lang="en-KE"/>
          </a:p>
        </p:txBody>
      </p:sp>
      <p:sp>
        <p:nvSpPr>
          <p:cNvPr id="6" name="Text 4"/>
          <p:cNvSpPr/>
          <p:nvPr/>
        </p:nvSpPr>
        <p:spPr>
          <a:xfrm>
            <a:off x="777240" y="164592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417320" y="1618488"/>
            <a:ext cx="4297680" cy="502920"/>
          </a:xfrm>
          <a:prstGeom prst="rect">
            <a:avLst/>
          </a:prstGeom>
          <a:noFill/>
          <a:ln/>
        </p:spPr>
        <p:txBody>
          <a:bodyPr wrap="square" rtlCol="0" anchor="t"/>
          <a:lstStyle/>
          <a:p>
            <a:pPr marL="0" indent="0">
              <a:buNone/>
            </a:pPr>
            <a:r>
              <a:rPr lang="en-US" sz="1250" b="1" dirty="0">
                <a:solidFill>
                  <a:srgbClr val="0B3B22"/>
                </a:solidFill>
                <a:latin typeface="Calibri" pitchFamily="34" charset="0"/>
                <a:ea typeface="Calibri" pitchFamily="34" charset="-122"/>
                <a:cs typeface="Calibri" pitchFamily="34" charset="-120"/>
              </a:rPr>
              <a:t>Botchey, Qin &amp; Hughes-Lartey (2022)</a:t>
            </a:r>
            <a:endParaRPr lang="en-US" sz="1250" dirty="0"/>
          </a:p>
        </p:txBody>
      </p:sp>
      <p:sp>
        <p:nvSpPr>
          <p:cNvPr id="8" name="Text 6"/>
          <p:cNvSpPr/>
          <p:nvPr/>
        </p:nvSpPr>
        <p:spPr>
          <a:xfrm>
            <a:off x="822960" y="2194560"/>
            <a:ext cx="4846320" cy="1005840"/>
          </a:xfrm>
          <a:prstGeom prst="rect">
            <a:avLst/>
          </a:prstGeom>
          <a:noFill/>
          <a:ln/>
        </p:spPr>
        <p:txBody>
          <a:bodyPr wrap="square" rtlCol="0" anchor="t"/>
          <a:lstStyle/>
          <a:p>
            <a:pPr marL="0" indent="0">
              <a:lnSpc>
                <a:spcPct val="115000"/>
              </a:lnSpc>
              <a:buNone/>
            </a:pPr>
            <a:r>
              <a:rPr lang="en-US" sz="1050" dirty="0">
                <a:solidFill>
                  <a:srgbClr val="1B1B1B"/>
                </a:solidFill>
                <a:latin typeface="Calibri" pitchFamily="34" charset="0"/>
                <a:ea typeface="Calibri" pitchFamily="34" charset="-122"/>
                <a:cs typeface="Calibri" pitchFamily="34" charset="-120"/>
              </a:rPr>
              <a:t>Evaluated shallow and deep learning models — plus anomaly detection — for predicting fraud in mobile money transactions, noting how little research existed on MMT fraud versus card fraud.</a:t>
            </a:r>
            <a:endParaRPr lang="en-US" sz="1050" dirty="0"/>
          </a:p>
        </p:txBody>
      </p:sp>
      <p:sp>
        <p:nvSpPr>
          <p:cNvPr id="9" name="Shape 7"/>
          <p:cNvSpPr/>
          <p:nvPr/>
        </p:nvSpPr>
        <p:spPr>
          <a:xfrm>
            <a:off x="6263640" y="1417320"/>
            <a:ext cx="5394960" cy="1965960"/>
          </a:xfrm>
          <a:prstGeom prst="roundRect">
            <a:avLst>
              <a:gd name="adj" fmla="val 3721"/>
            </a:avLst>
          </a:prstGeom>
          <a:solidFill>
            <a:srgbClr val="F2F8F4"/>
          </a:solidFill>
          <a:ln/>
        </p:spPr>
        <p:txBody>
          <a:bodyPr/>
          <a:lstStyle/>
          <a:p>
            <a:endParaRPr lang="en-KE"/>
          </a:p>
        </p:txBody>
      </p:sp>
      <p:sp>
        <p:nvSpPr>
          <p:cNvPr id="10" name="Shape 8"/>
          <p:cNvSpPr/>
          <p:nvPr/>
        </p:nvSpPr>
        <p:spPr>
          <a:xfrm>
            <a:off x="6492240" y="1645920"/>
            <a:ext cx="457200" cy="457200"/>
          </a:xfrm>
          <a:prstGeom prst="ellipse">
            <a:avLst/>
          </a:prstGeom>
          <a:solidFill>
            <a:srgbClr val="00A651"/>
          </a:solidFill>
          <a:ln/>
        </p:spPr>
        <p:txBody>
          <a:bodyPr/>
          <a:lstStyle/>
          <a:p>
            <a:endParaRPr lang="en-KE"/>
          </a:p>
        </p:txBody>
      </p:sp>
      <p:sp>
        <p:nvSpPr>
          <p:cNvPr id="11" name="Text 9"/>
          <p:cNvSpPr/>
          <p:nvPr/>
        </p:nvSpPr>
        <p:spPr>
          <a:xfrm>
            <a:off x="6492240" y="164592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7132320" y="1618488"/>
            <a:ext cx="4297680" cy="502920"/>
          </a:xfrm>
          <a:prstGeom prst="rect">
            <a:avLst/>
          </a:prstGeom>
          <a:noFill/>
          <a:ln/>
        </p:spPr>
        <p:txBody>
          <a:bodyPr wrap="square" rtlCol="0" anchor="t"/>
          <a:lstStyle/>
          <a:p>
            <a:pPr marL="0" indent="0">
              <a:buNone/>
            </a:pPr>
            <a:r>
              <a:rPr lang="en-US" sz="1250" b="1" dirty="0">
                <a:solidFill>
                  <a:srgbClr val="0B3B22"/>
                </a:solidFill>
                <a:latin typeface="Calibri" pitchFamily="34" charset="0"/>
                <a:ea typeface="Calibri" pitchFamily="34" charset="-122"/>
                <a:cs typeface="Calibri" pitchFamily="34" charset="-120"/>
              </a:rPr>
              <a:t>Lokanan (2023)</a:t>
            </a:r>
            <a:endParaRPr lang="en-US" sz="1250" dirty="0"/>
          </a:p>
        </p:txBody>
      </p:sp>
      <p:sp>
        <p:nvSpPr>
          <p:cNvPr id="13" name="Text 11"/>
          <p:cNvSpPr/>
          <p:nvPr/>
        </p:nvSpPr>
        <p:spPr>
          <a:xfrm>
            <a:off x="6537960" y="2194560"/>
            <a:ext cx="4846320" cy="1005840"/>
          </a:xfrm>
          <a:prstGeom prst="rect">
            <a:avLst/>
          </a:prstGeom>
          <a:noFill/>
          <a:ln/>
        </p:spPr>
        <p:txBody>
          <a:bodyPr wrap="square" rtlCol="0" anchor="t"/>
          <a:lstStyle/>
          <a:p>
            <a:pPr marL="0" indent="0">
              <a:lnSpc>
                <a:spcPct val="115000"/>
              </a:lnSpc>
              <a:buNone/>
            </a:pPr>
            <a:r>
              <a:rPr lang="en-US" sz="1050" dirty="0">
                <a:solidFill>
                  <a:srgbClr val="1B1B1B"/>
                </a:solidFill>
                <a:latin typeface="Calibri" pitchFamily="34" charset="0"/>
                <a:ea typeface="Calibri" pitchFamily="34" charset="-122"/>
                <a:cs typeface="Calibri" pitchFamily="34" charset="-120"/>
              </a:rPr>
              <a:t>Applied logistic regression and other ML classifiers to flag red flags of fraud and money-laundering in mobile money transactions, reporting strong predictive performance.</a:t>
            </a:r>
            <a:endParaRPr lang="en-US" sz="1050" dirty="0"/>
          </a:p>
        </p:txBody>
      </p:sp>
      <p:sp>
        <p:nvSpPr>
          <p:cNvPr id="14" name="Shape 12"/>
          <p:cNvSpPr/>
          <p:nvPr/>
        </p:nvSpPr>
        <p:spPr>
          <a:xfrm>
            <a:off x="548640" y="3657600"/>
            <a:ext cx="5394960" cy="1965960"/>
          </a:xfrm>
          <a:prstGeom prst="roundRect">
            <a:avLst>
              <a:gd name="adj" fmla="val 3721"/>
            </a:avLst>
          </a:prstGeom>
          <a:solidFill>
            <a:srgbClr val="F2F8F4"/>
          </a:solidFill>
          <a:ln/>
        </p:spPr>
        <p:txBody>
          <a:bodyPr/>
          <a:lstStyle/>
          <a:p>
            <a:endParaRPr lang="en-KE"/>
          </a:p>
        </p:txBody>
      </p:sp>
      <p:sp>
        <p:nvSpPr>
          <p:cNvPr id="15" name="Shape 13"/>
          <p:cNvSpPr/>
          <p:nvPr/>
        </p:nvSpPr>
        <p:spPr>
          <a:xfrm>
            <a:off x="777240" y="3886200"/>
            <a:ext cx="457200" cy="457200"/>
          </a:xfrm>
          <a:prstGeom prst="ellipse">
            <a:avLst/>
          </a:prstGeom>
          <a:solidFill>
            <a:srgbClr val="00A651"/>
          </a:solidFill>
          <a:ln/>
        </p:spPr>
        <p:txBody>
          <a:bodyPr/>
          <a:lstStyle/>
          <a:p>
            <a:endParaRPr lang="en-KE"/>
          </a:p>
        </p:txBody>
      </p:sp>
      <p:sp>
        <p:nvSpPr>
          <p:cNvPr id="16" name="Text 14"/>
          <p:cNvSpPr/>
          <p:nvPr/>
        </p:nvSpPr>
        <p:spPr>
          <a:xfrm>
            <a:off x="777240" y="388620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417320" y="3858768"/>
            <a:ext cx="4297680" cy="502920"/>
          </a:xfrm>
          <a:prstGeom prst="rect">
            <a:avLst/>
          </a:prstGeom>
          <a:noFill/>
          <a:ln/>
        </p:spPr>
        <p:txBody>
          <a:bodyPr wrap="square" rtlCol="0" anchor="t"/>
          <a:lstStyle/>
          <a:p>
            <a:pPr marL="0" indent="0">
              <a:buNone/>
            </a:pPr>
            <a:r>
              <a:rPr lang="en-US" sz="1250" b="1" dirty="0">
                <a:solidFill>
                  <a:srgbClr val="0B3B22"/>
                </a:solidFill>
                <a:latin typeface="Calibri" pitchFamily="34" charset="0"/>
                <a:ea typeface="Calibri" pitchFamily="34" charset="-122"/>
                <a:cs typeface="Calibri" pitchFamily="34" charset="-120"/>
              </a:rPr>
              <a:t>Cross-case SVM / GBDT / Naïve Bayes study (2020)</a:t>
            </a:r>
            <a:endParaRPr lang="en-US" sz="1250" dirty="0"/>
          </a:p>
        </p:txBody>
      </p:sp>
      <p:sp>
        <p:nvSpPr>
          <p:cNvPr id="18" name="Text 16"/>
          <p:cNvSpPr/>
          <p:nvPr/>
        </p:nvSpPr>
        <p:spPr>
          <a:xfrm>
            <a:off x="822960" y="4434840"/>
            <a:ext cx="4846320" cy="1005840"/>
          </a:xfrm>
          <a:prstGeom prst="rect">
            <a:avLst/>
          </a:prstGeom>
          <a:noFill/>
          <a:ln/>
        </p:spPr>
        <p:txBody>
          <a:bodyPr wrap="square" rtlCol="0" anchor="t"/>
          <a:lstStyle/>
          <a:p>
            <a:pPr marL="0" indent="0">
              <a:lnSpc>
                <a:spcPct val="115000"/>
              </a:lnSpc>
              <a:buNone/>
            </a:pPr>
            <a:r>
              <a:rPr lang="en-US" sz="1050" dirty="0">
                <a:solidFill>
                  <a:srgbClr val="1B1B1B"/>
                </a:solidFill>
                <a:latin typeface="Calibri" pitchFamily="34" charset="0"/>
                <a:ea typeface="Calibri" pitchFamily="34" charset="-122"/>
                <a:cs typeface="Calibri" pitchFamily="34" charset="-120"/>
              </a:rPr>
              <a:t>Compared SVM, Gradient-Boosted Decision Trees and Naïve Bayes on mobile-money data, showing that accuracy alone is misleading on imbalanced fraud datasets — precision, recall and AUC matter more.</a:t>
            </a:r>
            <a:endParaRPr lang="en-US" sz="1050" dirty="0"/>
          </a:p>
        </p:txBody>
      </p:sp>
      <p:sp>
        <p:nvSpPr>
          <p:cNvPr id="19" name="Shape 17"/>
          <p:cNvSpPr/>
          <p:nvPr/>
        </p:nvSpPr>
        <p:spPr>
          <a:xfrm>
            <a:off x="6263640" y="3657600"/>
            <a:ext cx="5394960" cy="1965960"/>
          </a:xfrm>
          <a:prstGeom prst="roundRect">
            <a:avLst>
              <a:gd name="adj" fmla="val 3721"/>
            </a:avLst>
          </a:prstGeom>
          <a:solidFill>
            <a:srgbClr val="F2F8F4"/>
          </a:solidFill>
          <a:ln/>
        </p:spPr>
        <p:txBody>
          <a:bodyPr/>
          <a:lstStyle/>
          <a:p>
            <a:endParaRPr lang="en-KE"/>
          </a:p>
        </p:txBody>
      </p:sp>
      <p:sp>
        <p:nvSpPr>
          <p:cNvPr id="20" name="Shape 18"/>
          <p:cNvSpPr/>
          <p:nvPr/>
        </p:nvSpPr>
        <p:spPr>
          <a:xfrm>
            <a:off x="6492240" y="3886200"/>
            <a:ext cx="457200" cy="457200"/>
          </a:xfrm>
          <a:prstGeom prst="ellipse">
            <a:avLst/>
          </a:prstGeom>
          <a:solidFill>
            <a:srgbClr val="00A651"/>
          </a:solidFill>
          <a:ln/>
        </p:spPr>
        <p:txBody>
          <a:bodyPr/>
          <a:lstStyle/>
          <a:p>
            <a:endParaRPr lang="en-KE"/>
          </a:p>
        </p:txBody>
      </p:sp>
      <p:sp>
        <p:nvSpPr>
          <p:cNvPr id="21" name="Text 19"/>
          <p:cNvSpPr/>
          <p:nvPr/>
        </p:nvSpPr>
        <p:spPr>
          <a:xfrm>
            <a:off x="6492240" y="388620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7132320" y="3858768"/>
            <a:ext cx="4297680" cy="502920"/>
          </a:xfrm>
          <a:prstGeom prst="rect">
            <a:avLst/>
          </a:prstGeom>
          <a:noFill/>
          <a:ln/>
        </p:spPr>
        <p:txBody>
          <a:bodyPr wrap="square" rtlCol="0" anchor="t"/>
          <a:lstStyle/>
          <a:p>
            <a:pPr marL="0" indent="0">
              <a:buNone/>
            </a:pPr>
            <a:r>
              <a:rPr lang="en-US" sz="1250" b="1" dirty="0">
                <a:solidFill>
                  <a:srgbClr val="0B3B22"/>
                </a:solidFill>
                <a:latin typeface="Calibri" pitchFamily="34" charset="0"/>
                <a:ea typeface="Calibri" pitchFamily="34" charset="-122"/>
                <a:cs typeface="Calibri" pitchFamily="34" charset="-120"/>
              </a:rPr>
              <a:t>GSMA (2023) &amp; World Bank (2021)</a:t>
            </a:r>
            <a:endParaRPr lang="en-US" sz="1250" dirty="0"/>
          </a:p>
        </p:txBody>
      </p:sp>
      <p:sp>
        <p:nvSpPr>
          <p:cNvPr id="23" name="Text 21"/>
          <p:cNvSpPr/>
          <p:nvPr/>
        </p:nvSpPr>
        <p:spPr>
          <a:xfrm>
            <a:off x="6537960" y="4434840"/>
            <a:ext cx="4846320" cy="1005840"/>
          </a:xfrm>
          <a:prstGeom prst="rect">
            <a:avLst/>
          </a:prstGeom>
          <a:noFill/>
          <a:ln/>
        </p:spPr>
        <p:txBody>
          <a:bodyPr wrap="square" rtlCol="0" anchor="t"/>
          <a:lstStyle/>
          <a:p>
            <a:pPr marL="0" indent="0">
              <a:lnSpc>
                <a:spcPct val="115000"/>
              </a:lnSpc>
              <a:buNone/>
            </a:pPr>
            <a:r>
              <a:rPr lang="en-US" sz="1050" dirty="0">
                <a:solidFill>
                  <a:srgbClr val="1B1B1B"/>
                </a:solidFill>
                <a:latin typeface="Calibri" pitchFamily="34" charset="0"/>
                <a:ea typeface="Calibri" pitchFamily="34" charset="-122"/>
                <a:cs typeface="Calibri" pitchFamily="34" charset="-120"/>
              </a:rPr>
              <a:t>Documented that fraud-detection infrastructure in emerging markets like Kenya lags the rapid growth of mobile money, and that models trained on Western data often transfer poorly to local transaction patterns.</a:t>
            </a:r>
            <a:endParaRPr lang="en-US" sz="1050" dirty="0"/>
          </a:p>
        </p:txBody>
      </p:sp>
      <p:sp>
        <p:nvSpPr>
          <p:cNvPr id="24" name="Text 22"/>
          <p:cNvSpPr/>
          <p:nvPr/>
        </p:nvSpPr>
        <p:spPr>
          <a:xfrm>
            <a:off x="548640" y="5989320"/>
            <a:ext cx="11064240" cy="502920"/>
          </a:xfrm>
          <a:prstGeom prst="rect">
            <a:avLst/>
          </a:prstGeom>
          <a:noFill/>
          <a:ln/>
        </p:spPr>
        <p:txBody>
          <a:bodyPr wrap="square" rtlCol="0" anchor="ctr"/>
          <a:lstStyle/>
          <a:p>
            <a:pPr marL="0" indent="0">
              <a:buNone/>
            </a:pPr>
            <a:r>
              <a:rPr lang="en-US" sz="1050" i="1" dirty="0">
                <a:solidFill>
                  <a:srgbClr val="5B6B62"/>
                </a:solidFill>
                <a:latin typeface="Calibri" pitchFamily="34" charset="0"/>
                <a:ea typeface="Calibri" pitchFamily="34" charset="-122"/>
                <a:cs typeface="Calibri" pitchFamily="34" charset="-120"/>
              </a:rPr>
              <a:t>Gap this project addresses: most published work uses card-transaction datasets (e.g. PaySim) rather than Kenyan-specific M-Pesa transaction structure; this project benchmarks four classical ML families side-by-side on M-Pesa-style data with balance and channel features.</a:t>
            </a:r>
            <a:endParaRPr lang="en-US" sz="1050" dirty="0"/>
          </a:p>
        </p:txBody>
      </p:sp>
      <p:sp>
        <p:nvSpPr>
          <p:cNvPr id="25" name="Text 23"/>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B62"/>
                </a:solidFill>
                <a:latin typeface="Calibri" pitchFamily="34" charset="0"/>
                <a:ea typeface="Calibri" pitchFamily="34" charset="-122"/>
                <a:cs typeface="Calibri" pitchFamily="34" charset="-120"/>
              </a:rPr>
              <a:t>DAT 3202 · Machine Learning Mini Project · M-Pesa Fraud Detection</a:t>
            </a:r>
            <a:endParaRPr lang="en-US" sz="900" dirty="0"/>
          </a:p>
        </p:txBody>
      </p:sp>
      <p:sp>
        <p:nvSpPr>
          <p:cNvPr id="26" name="Text 2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B6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rtlCol="0" anchor="ctr"/>
          <a:lstStyle/>
          <a:p>
            <a:pPr marL="0" indent="0">
              <a:buNone/>
            </a:pPr>
            <a:r>
              <a:rPr lang="en-US" sz="2800" b="1" dirty="0">
                <a:solidFill>
                  <a:srgbClr val="1B1B1B"/>
                </a:solidFill>
                <a:latin typeface="Cambria" pitchFamily="34" charset="0"/>
                <a:ea typeface="Cambria" pitchFamily="34" charset="-122"/>
                <a:cs typeface="Cambria" pitchFamily="34" charset="-120"/>
              </a:rPr>
              <a:t>Dataset Selection &amp; Justification</a:t>
            </a:r>
            <a:endParaRPr lang="en-US" sz="2800" dirty="0"/>
          </a:p>
        </p:txBody>
      </p:sp>
      <p:pic>
        <p:nvPicPr>
          <p:cNvPr id="3" name="Image 0" descr="eda_class_balance.png"/>
          <p:cNvPicPr>
            <a:picLocks noChangeAspect="1"/>
          </p:cNvPicPr>
          <p:nvPr/>
        </p:nvPicPr>
        <p:blipFill>
          <a:blip r:embed="rId3"/>
          <a:stretch>
            <a:fillRect/>
          </a:stretch>
        </p:blipFill>
        <p:spPr>
          <a:xfrm>
            <a:off x="7635240" y="1143000"/>
            <a:ext cx="4023360" cy="4023360"/>
          </a:xfrm>
          <a:prstGeom prst="rect">
            <a:avLst/>
          </a:prstGeom>
        </p:spPr>
      </p:pic>
      <p:sp>
        <p:nvSpPr>
          <p:cNvPr id="4" name="Shape 1"/>
          <p:cNvSpPr/>
          <p:nvPr/>
        </p:nvSpPr>
        <p:spPr>
          <a:xfrm>
            <a:off x="548640" y="1143000"/>
            <a:ext cx="6858000" cy="960120"/>
          </a:xfrm>
          <a:prstGeom prst="roundRect">
            <a:avLst>
              <a:gd name="adj" fmla="val 7619"/>
            </a:avLst>
          </a:prstGeom>
          <a:solidFill>
            <a:srgbClr val="F2F8F4"/>
          </a:solidFill>
          <a:ln/>
        </p:spPr>
        <p:txBody>
          <a:bodyPr/>
          <a:lstStyle/>
          <a:p>
            <a:endParaRPr lang="en-KE"/>
          </a:p>
        </p:txBody>
      </p:sp>
      <p:sp>
        <p:nvSpPr>
          <p:cNvPr id="5" name="Text 2"/>
          <p:cNvSpPr/>
          <p:nvPr/>
        </p:nvSpPr>
        <p:spPr>
          <a:xfrm>
            <a:off x="777240" y="1280160"/>
            <a:ext cx="6400800" cy="777240"/>
          </a:xfrm>
          <a:prstGeom prst="rect">
            <a:avLst/>
          </a:prstGeom>
          <a:noFill/>
          <a:ln/>
        </p:spPr>
        <p:txBody>
          <a:bodyPr wrap="square" rtlCol="0" anchor="t"/>
          <a:lstStyle/>
          <a:p>
            <a:pPr marL="0" indent="0">
              <a:lnSpc>
                <a:spcPct val="120000"/>
              </a:lnSpc>
              <a:buNone/>
            </a:pPr>
            <a:r>
              <a:rPr lang="en-US" sz="1200" b="1" dirty="0">
                <a:solidFill>
                  <a:srgbClr val="0B3B22"/>
                </a:solidFill>
                <a:latin typeface="Calibri" pitchFamily="34" charset="0"/>
                <a:ea typeface="Calibri" pitchFamily="34" charset="-122"/>
                <a:cs typeface="Calibri" pitchFamily="34" charset="-120"/>
              </a:rPr>
              <a:t>Source: </a:t>
            </a:r>
            <a:r>
              <a:rPr lang="en-US" sz="1200" dirty="0">
                <a:solidFill>
                  <a:srgbClr val="1B1B1B"/>
                </a:solidFill>
                <a:latin typeface="Calibri" pitchFamily="34" charset="0"/>
                <a:ea typeface="Calibri" pitchFamily="34" charset="-122"/>
                <a:cs typeface="Calibri" pitchFamily="34" charset="-120"/>
              </a:rPr>
              <a:t>Kaggle — "M-Pesa Transactions Fraud" by calebboen
</a:t>
            </a:r>
            <a:r>
              <a:rPr lang="en-US" sz="1050" i="1" dirty="0">
                <a:solidFill>
                  <a:srgbClr val="00A651"/>
                </a:solidFill>
                <a:latin typeface="Calibri" pitchFamily="34" charset="0"/>
                <a:ea typeface="Calibri" pitchFamily="34" charset="-122"/>
                <a:cs typeface="Calibri" pitchFamily="34" charset="-120"/>
              </a:rPr>
              <a:t>kaggle.com/datasets/calebboen/mpesa-transactions-fraud</a:t>
            </a:r>
            <a:endParaRPr lang="en-US" sz="1200" dirty="0"/>
          </a:p>
        </p:txBody>
      </p:sp>
      <p:sp>
        <p:nvSpPr>
          <p:cNvPr id="6" name="Shape 3"/>
          <p:cNvSpPr/>
          <p:nvPr/>
        </p:nvSpPr>
        <p:spPr>
          <a:xfrm>
            <a:off x="548640" y="2340864"/>
            <a:ext cx="109728" cy="109728"/>
          </a:xfrm>
          <a:prstGeom prst="ellipse">
            <a:avLst/>
          </a:prstGeom>
          <a:solidFill>
            <a:srgbClr val="00A651"/>
          </a:solidFill>
          <a:ln/>
        </p:spPr>
        <p:txBody>
          <a:bodyPr/>
          <a:lstStyle/>
          <a:p>
            <a:endParaRPr lang="en-KE"/>
          </a:p>
        </p:txBody>
      </p:sp>
      <p:sp>
        <p:nvSpPr>
          <p:cNvPr id="7" name="Text 4"/>
          <p:cNvSpPr/>
          <p:nvPr/>
        </p:nvSpPr>
        <p:spPr>
          <a:xfrm>
            <a:off x="822960" y="2212848"/>
            <a:ext cx="6583680" cy="594360"/>
          </a:xfrm>
          <a:prstGeom prst="rect">
            <a:avLst/>
          </a:prstGeom>
          <a:noFill/>
          <a:ln/>
        </p:spPr>
        <p:txBody>
          <a:bodyPr wrap="square" rtlCol="0" anchor="t"/>
          <a:lstStyle/>
          <a:p>
            <a:pPr marL="0" indent="0">
              <a:lnSpc>
                <a:spcPct val="110000"/>
              </a:lnSpc>
              <a:buNone/>
            </a:pPr>
            <a:r>
              <a:rPr lang="en-US" sz="1200" dirty="0">
                <a:solidFill>
                  <a:srgbClr val="1B1B1B"/>
                </a:solidFill>
                <a:latin typeface="Calibri" pitchFamily="34" charset="0"/>
                <a:ea typeface="Calibri" pitchFamily="34" charset="-122"/>
                <a:cs typeface="Calibri" pitchFamily="34" charset="-120"/>
              </a:rPr>
              <a:t>120,000 synthetic M-Pesa-style mobile money transactions</a:t>
            </a:r>
            <a:endParaRPr lang="en-US" sz="1200" dirty="0"/>
          </a:p>
        </p:txBody>
      </p:sp>
      <p:sp>
        <p:nvSpPr>
          <p:cNvPr id="8" name="Shape 5"/>
          <p:cNvSpPr/>
          <p:nvPr/>
        </p:nvSpPr>
        <p:spPr>
          <a:xfrm>
            <a:off x="548640" y="2907792"/>
            <a:ext cx="109728" cy="109728"/>
          </a:xfrm>
          <a:prstGeom prst="ellipse">
            <a:avLst/>
          </a:prstGeom>
          <a:solidFill>
            <a:srgbClr val="00A651"/>
          </a:solidFill>
          <a:ln/>
        </p:spPr>
        <p:txBody>
          <a:bodyPr/>
          <a:lstStyle/>
          <a:p>
            <a:endParaRPr lang="en-KE"/>
          </a:p>
        </p:txBody>
      </p:sp>
      <p:sp>
        <p:nvSpPr>
          <p:cNvPr id="9" name="Text 6"/>
          <p:cNvSpPr/>
          <p:nvPr/>
        </p:nvSpPr>
        <p:spPr>
          <a:xfrm>
            <a:off x="822960" y="2779776"/>
            <a:ext cx="6583680" cy="594360"/>
          </a:xfrm>
          <a:prstGeom prst="rect">
            <a:avLst/>
          </a:prstGeom>
          <a:noFill/>
          <a:ln/>
        </p:spPr>
        <p:txBody>
          <a:bodyPr wrap="square" rtlCol="0" anchor="t"/>
          <a:lstStyle/>
          <a:p>
            <a:pPr marL="0" indent="0">
              <a:lnSpc>
                <a:spcPct val="110000"/>
              </a:lnSpc>
              <a:buNone/>
            </a:pPr>
            <a:r>
              <a:rPr lang="en-US" sz="1200" dirty="0">
                <a:solidFill>
                  <a:srgbClr val="1B1B1B"/>
                </a:solidFill>
                <a:latin typeface="Calibri" pitchFamily="34" charset="0"/>
                <a:ea typeface="Calibri" pitchFamily="34" charset="-122"/>
                <a:cs typeface="Calibri" pitchFamily="34" charset="-120"/>
              </a:rPr>
              <a:t>13 raw attributes: amount, sender/receiver balances before &amp; after, transaction type (peer, till, paybill...), hour, day of week, month, device type, region, fraud label</a:t>
            </a:r>
            <a:endParaRPr lang="en-US" sz="1200" dirty="0"/>
          </a:p>
        </p:txBody>
      </p:sp>
      <p:sp>
        <p:nvSpPr>
          <p:cNvPr id="10" name="Shape 7"/>
          <p:cNvSpPr/>
          <p:nvPr/>
        </p:nvSpPr>
        <p:spPr>
          <a:xfrm>
            <a:off x="548640" y="3474720"/>
            <a:ext cx="109728" cy="109728"/>
          </a:xfrm>
          <a:prstGeom prst="ellipse">
            <a:avLst/>
          </a:prstGeom>
          <a:solidFill>
            <a:srgbClr val="00A651"/>
          </a:solidFill>
          <a:ln/>
        </p:spPr>
        <p:txBody>
          <a:bodyPr/>
          <a:lstStyle/>
          <a:p>
            <a:endParaRPr lang="en-KE"/>
          </a:p>
        </p:txBody>
      </p:sp>
      <p:sp>
        <p:nvSpPr>
          <p:cNvPr id="11" name="Text 8"/>
          <p:cNvSpPr/>
          <p:nvPr/>
        </p:nvSpPr>
        <p:spPr>
          <a:xfrm>
            <a:off x="822960" y="3346704"/>
            <a:ext cx="6583680" cy="594360"/>
          </a:xfrm>
          <a:prstGeom prst="rect">
            <a:avLst/>
          </a:prstGeom>
          <a:noFill/>
          <a:ln/>
        </p:spPr>
        <p:txBody>
          <a:bodyPr wrap="square" rtlCol="0" anchor="t"/>
          <a:lstStyle/>
          <a:p>
            <a:pPr marL="0" indent="0">
              <a:lnSpc>
                <a:spcPct val="110000"/>
              </a:lnSpc>
              <a:buNone/>
            </a:pPr>
            <a:r>
              <a:rPr lang="en-US" sz="1200" dirty="0">
                <a:solidFill>
                  <a:srgbClr val="1B1B1B"/>
                </a:solidFill>
                <a:latin typeface="Calibri" pitchFamily="34" charset="0"/>
                <a:ea typeface="Calibri" pitchFamily="34" charset="-122"/>
                <a:cs typeface="Calibri" pitchFamily="34" charset="-120"/>
              </a:rPr>
              <a:t>Covers 5 Kenyan regions: Nairobi, Mombasa, Kisumu, Nakuru, Eldoret</a:t>
            </a:r>
            <a:endParaRPr lang="en-US" sz="1200" dirty="0"/>
          </a:p>
        </p:txBody>
      </p:sp>
      <p:sp>
        <p:nvSpPr>
          <p:cNvPr id="12" name="Shape 9"/>
          <p:cNvSpPr/>
          <p:nvPr/>
        </p:nvSpPr>
        <p:spPr>
          <a:xfrm>
            <a:off x="548640" y="4041648"/>
            <a:ext cx="109728" cy="109728"/>
          </a:xfrm>
          <a:prstGeom prst="ellipse">
            <a:avLst/>
          </a:prstGeom>
          <a:solidFill>
            <a:srgbClr val="00A651"/>
          </a:solidFill>
          <a:ln/>
        </p:spPr>
        <p:txBody>
          <a:bodyPr/>
          <a:lstStyle/>
          <a:p>
            <a:endParaRPr lang="en-KE"/>
          </a:p>
        </p:txBody>
      </p:sp>
      <p:sp>
        <p:nvSpPr>
          <p:cNvPr id="13" name="Text 10"/>
          <p:cNvSpPr/>
          <p:nvPr/>
        </p:nvSpPr>
        <p:spPr>
          <a:xfrm>
            <a:off x="822960" y="3913632"/>
            <a:ext cx="6583680" cy="594360"/>
          </a:xfrm>
          <a:prstGeom prst="rect">
            <a:avLst/>
          </a:prstGeom>
          <a:noFill/>
          <a:ln/>
        </p:spPr>
        <p:txBody>
          <a:bodyPr wrap="square" rtlCol="0" anchor="t"/>
          <a:lstStyle/>
          <a:p>
            <a:pPr marL="0" indent="0">
              <a:lnSpc>
                <a:spcPct val="110000"/>
              </a:lnSpc>
              <a:buNone/>
            </a:pPr>
            <a:r>
              <a:rPr lang="en-US" sz="1200" dirty="0">
                <a:solidFill>
                  <a:srgbClr val="1B1B1B"/>
                </a:solidFill>
                <a:latin typeface="Calibri" pitchFamily="34" charset="0"/>
                <a:ea typeface="Calibri" pitchFamily="34" charset="-122"/>
                <a:cs typeface="Calibri" pitchFamily="34" charset="-120"/>
              </a:rPr>
              <a:t>Binary target is_fraud (0 = legitimate, 1 = fraud), with a realistic ~2.9% fraud rate</a:t>
            </a:r>
            <a:endParaRPr lang="en-US" sz="1200" dirty="0"/>
          </a:p>
        </p:txBody>
      </p:sp>
      <p:sp>
        <p:nvSpPr>
          <p:cNvPr id="14" name="Shape 11"/>
          <p:cNvSpPr/>
          <p:nvPr/>
        </p:nvSpPr>
        <p:spPr>
          <a:xfrm>
            <a:off x="548640" y="4663440"/>
            <a:ext cx="6858000" cy="1508760"/>
          </a:xfrm>
          <a:prstGeom prst="roundRect">
            <a:avLst>
              <a:gd name="adj" fmla="val 4848"/>
            </a:avLst>
          </a:prstGeom>
          <a:solidFill>
            <a:srgbClr val="0B3B22"/>
          </a:solidFill>
          <a:ln/>
        </p:spPr>
        <p:txBody>
          <a:bodyPr/>
          <a:lstStyle/>
          <a:p>
            <a:endParaRPr lang="en-KE"/>
          </a:p>
        </p:txBody>
      </p:sp>
      <p:sp>
        <p:nvSpPr>
          <p:cNvPr id="15" name="Text 12"/>
          <p:cNvSpPr/>
          <p:nvPr/>
        </p:nvSpPr>
        <p:spPr>
          <a:xfrm>
            <a:off x="777240" y="4800600"/>
            <a:ext cx="6400800" cy="320040"/>
          </a:xfrm>
          <a:prstGeom prst="rect">
            <a:avLst/>
          </a:prstGeom>
          <a:noFill/>
          <a:ln/>
        </p:spPr>
        <p:txBody>
          <a:bodyPr wrap="square" rtlCol="0" anchor="ctr"/>
          <a:lstStyle/>
          <a:p>
            <a:pPr marL="0" indent="0">
              <a:buNone/>
            </a:pPr>
            <a:r>
              <a:rPr lang="en-US" sz="1300" b="1" dirty="0">
                <a:solidFill>
                  <a:srgbClr val="00A651"/>
                </a:solidFill>
                <a:latin typeface="Cambria" pitchFamily="34" charset="0"/>
                <a:ea typeface="Cambria" pitchFamily="34" charset="-122"/>
                <a:cs typeface="Cambria" pitchFamily="34" charset="-120"/>
              </a:rPr>
              <a:t>Why this dataset fits the problem</a:t>
            </a:r>
            <a:endParaRPr lang="en-US" sz="1300" dirty="0"/>
          </a:p>
        </p:txBody>
      </p:sp>
      <p:sp>
        <p:nvSpPr>
          <p:cNvPr id="16" name="Text 13"/>
          <p:cNvSpPr/>
          <p:nvPr/>
        </p:nvSpPr>
        <p:spPr>
          <a:xfrm>
            <a:off x="777240" y="5120640"/>
            <a:ext cx="6400800" cy="1005840"/>
          </a:xfrm>
          <a:prstGeom prst="rect">
            <a:avLst/>
          </a:prstGeom>
          <a:noFill/>
          <a:ln/>
        </p:spPr>
        <p:txBody>
          <a:bodyPr wrap="square" rtlCol="0" anchor="ctr"/>
          <a:lstStyle/>
          <a:p>
            <a:pPr marL="0" indent="0">
              <a:lnSpc>
                <a:spcPct val="115000"/>
              </a:lnSpc>
              <a:buNone/>
            </a:pPr>
            <a:r>
              <a:rPr lang="en-US" sz="1050" dirty="0">
                <a:solidFill>
                  <a:srgbClr val="E9F5EE"/>
                </a:solidFill>
                <a:latin typeface="Calibri" pitchFamily="34" charset="0"/>
                <a:ea typeface="Calibri" pitchFamily="34" charset="-122"/>
                <a:cs typeface="Calibri" pitchFamily="34" charset="-120"/>
              </a:rPr>
              <a:t>It mirrors the balance-transfer structure of real M-Pesa transactions (sender/receiver balances, transaction channel), is explicitly localized to Kenyan regions, and keeps the class imbalance realistic for fraud problems — making it a strong, Kenya-relevant proxy dataset in the absence of real Safaricom transaction logs.</a:t>
            </a:r>
            <a:endParaRPr lang="en-US" sz="1050" dirty="0"/>
          </a:p>
        </p:txBody>
      </p:sp>
      <p:sp>
        <p:nvSpPr>
          <p:cNvPr id="17" name="Text 14"/>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B62"/>
                </a:solidFill>
                <a:latin typeface="Calibri" pitchFamily="34" charset="0"/>
                <a:ea typeface="Calibri" pitchFamily="34" charset="-122"/>
                <a:cs typeface="Calibri" pitchFamily="34" charset="-120"/>
              </a:rPr>
              <a:t>DAT 3202 · Machine Learning Mini Project · M-Pesa Fraud Detection</a:t>
            </a:r>
            <a:endParaRPr lang="en-US" sz="900" dirty="0"/>
          </a:p>
        </p:txBody>
      </p:sp>
      <p:sp>
        <p:nvSpPr>
          <p:cNvPr id="18" name="Text 15"/>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B6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548640"/>
          </a:xfrm>
          <a:prstGeom prst="rect">
            <a:avLst/>
          </a:prstGeom>
          <a:noFill/>
          <a:ln/>
        </p:spPr>
        <p:txBody>
          <a:bodyPr wrap="square" rtlCol="0" anchor="ctr"/>
          <a:lstStyle/>
          <a:p>
            <a:pPr marL="0" indent="0">
              <a:buNone/>
            </a:pPr>
            <a:r>
              <a:rPr lang="en-US" sz="2800" b="1" dirty="0">
                <a:solidFill>
                  <a:srgbClr val="1B1B1B"/>
                </a:solidFill>
                <a:latin typeface="Cambria" pitchFamily="34" charset="0"/>
                <a:ea typeface="Cambria" pitchFamily="34" charset="-122"/>
                <a:cs typeface="Cambria" pitchFamily="34" charset="-120"/>
              </a:rPr>
              <a:t>Exploratory Data Analysis</a:t>
            </a:r>
            <a:endParaRPr lang="en-US" sz="2800" dirty="0"/>
          </a:p>
        </p:txBody>
      </p:sp>
      <p:sp>
        <p:nvSpPr>
          <p:cNvPr id="3" name="Text 1"/>
          <p:cNvSpPr/>
          <p:nvPr/>
        </p:nvSpPr>
        <p:spPr>
          <a:xfrm>
            <a:off x="548640" y="914400"/>
            <a:ext cx="9144000" cy="365760"/>
          </a:xfrm>
          <a:prstGeom prst="rect">
            <a:avLst/>
          </a:prstGeom>
          <a:noFill/>
          <a:ln/>
        </p:spPr>
        <p:txBody>
          <a:bodyPr wrap="square" rtlCol="0" anchor="ctr"/>
          <a:lstStyle/>
          <a:p>
            <a:pPr marL="0" indent="0">
              <a:buNone/>
            </a:pPr>
            <a:r>
              <a:rPr lang="en-US" sz="1400" i="1" dirty="0">
                <a:solidFill>
                  <a:srgbClr val="5B6B62"/>
                </a:solidFill>
                <a:latin typeface="Calibri" pitchFamily="34" charset="0"/>
                <a:ea typeface="Calibri" pitchFamily="34" charset="-122"/>
                <a:cs typeface="Calibri" pitchFamily="34" charset="-120"/>
              </a:rPr>
              <a:t>Where fraud concentrates — transaction channel &amp; device</a:t>
            </a:r>
            <a:endParaRPr lang="en-US" sz="1400" dirty="0"/>
          </a:p>
        </p:txBody>
      </p:sp>
      <p:pic>
        <p:nvPicPr>
          <p:cNvPr id="4" name="Image 0" descr="eda_type_device.png"/>
          <p:cNvPicPr>
            <a:picLocks noChangeAspect="1"/>
          </p:cNvPicPr>
          <p:nvPr/>
        </p:nvPicPr>
        <p:blipFill>
          <a:blip r:embed="rId3"/>
          <a:stretch>
            <a:fillRect/>
          </a:stretch>
        </p:blipFill>
        <p:spPr>
          <a:xfrm>
            <a:off x="548640" y="1417320"/>
            <a:ext cx="11064240" cy="4526280"/>
          </a:xfrm>
          <a:prstGeom prst="rect">
            <a:avLst/>
          </a:prstGeom>
        </p:spPr>
      </p:pic>
      <p:sp>
        <p:nvSpPr>
          <p:cNvPr id="5" name="Text 2"/>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B62"/>
                </a:solidFill>
                <a:latin typeface="Calibri" pitchFamily="34" charset="0"/>
                <a:ea typeface="Calibri" pitchFamily="34" charset="-122"/>
                <a:cs typeface="Calibri" pitchFamily="34" charset="-120"/>
              </a:rPr>
              <a:t>DAT 3202 · Machine Learning Mini Project · M-Pesa Fraud Detection</a:t>
            </a:r>
            <a:endParaRPr lang="en-US" sz="900" dirty="0"/>
          </a:p>
        </p:txBody>
      </p:sp>
      <p:sp>
        <p:nvSpPr>
          <p:cNvPr id="6" name="Text 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B6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548640"/>
          </a:xfrm>
          <a:prstGeom prst="rect">
            <a:avLst/>
          </a:prstGeom>
          <a:noFill/>
          <a:ln/>
        </p:spPr>
        <p:txBody>
          <a:bodyPr wrap="square" rtlCol="0" anchor="ctr"/>
          <a:lstStyle/>
          <a:p>
            <a:pPr marL="0" indent="0">
              <a:buNone/>
            </a:pPr>
            <a:r>
              <a:rPr lang="en-US" sz="2800" b="1" dirty="0">
                <a:solidFill>
                  <a:srgbClr val="1B1B1B"/>
                </a:solidFill>
                <a:latin typeface="Cambria" pitchFamily="34" charset="0"/>
                <a:ea typeface="Cambria" pitchFamily="34" charset="-122"/>
                <a:cs typeface="Cambria" pitchFamily="34" charset="-120"/>
              </a:rPr>
              <a:t>Exploratory Data Analysis</a:t>
            </a:r>
            <a:endParaRPr lang="en-US" sz="2800" dirty="0"/>
          </a:p>
        </p:txBody>
      </p:sp>
      <p:sp>
        <p:nvSpPr>
          <p:cNvPr id="3" name="Text 1"/>
          <p:cNvSpPr/>
          <p:nvPr/>
        </p:nvSpPr>
        <p:spPr>
          <a:xfrm>
            <a:off x="548640" y="914400"/>
            <a:ext cx="9144000" cy="365760"/>
          </a:xfrm>
          <a:prstGeom prst="rect">
            <a:avLst/>
          </a:prstGeom>
          <a:noFill/>
          <a:ln/>
        </p:spPr>
        <p:txBody>
          <a:bodyPr wrap="square" rtlCol="0" anchor="ctr"/>
          <a:lstStyle/>
          <a:p>
            <a:pPr marL="0" indent="0">
              <a:buNone/>
            </a:pPr>
            <a:r>
              <a:rPr lang="en-US" sz="1400" i="1" dirty="0">
                <a:solidFill>
                  <a:srgbClr val="5B6B62"/>
                </a:solidFill>
                <a:latin typeface="Calibri" pitchFamily="34" charset="0"/>
                <a:ea typeface="Calibri" pitchFamily="34" charset="-122"/>
                <a:cs typeface="Calibri" pitchFamily="34" charset="-120"/>
              </a:rPr>
              <a:t>Where fraud concentrates — time of day</a:t>
            </a:r>
            <a:endParaRPr lang="en-US" sz="1400" dirty="0"/>
          </a:p>
        </p:txBody>
      </p:sp>
      <p:pic>
        <p:nvPicPr>
          <p:cNvPr id="4" name="Image 0" descr="eda_hour.png"/>
          <p:cNvPicPr>
            <a:picLocks noChangeAspect="1"/>
          </p:cNvPicPr>
          <p:nvPr/>
        </p:nvPicPr>
        <p:blipFill>
          <a:blip r:embed="rId3"/>
          <a:stretch>
            <a:fillRect/>
          </a:stretch>
        </p:blipFill>
        <p:spPr>
          <a:xfrm>
            <a:off x="548640" y="1463040"/>
            <a:ext cx="6949440" cy="3520440"/>
          </a:xfrm>
          <a:prstGeom prst="rect">
            <a:avLst/>
          </a:prstGeom>
        </p:spPr>
      </p:pic>
      <p:sp>
        <p:nvSpPr>
          <p:cNvPr id="5" name="Shape 2"/>
          <p:cNvSpPr/>
          <p:nvPr/>
        </p:nvSpPr>
        <p:spPr>
          <a:xfrm>
            <a:off x="7772400" y="1463040"/>
            <a:ext cx="3840480" cy="3520440"/>
          </a:xfrm>
          <a:prstGeom prst="roundRect">
            <a:avLst>
              <a:gd name="adj" fmla="val 2078"/>
            </a:avLst>
          </a:prstGeom>
          <a:solidFill>
            <a:srgbClr val="F2F8F4"/>
          </a:solidFill>
          <a:ln/>
        </p:spPr>
        <p:txBody>
          <a:bodyPr/>
          <a:lstStyle/>
          <a:p>
            <a:endParaRPr lang="en-KE"/>
          </a:p>
        </p:txBody>
      </p:sp>
      <p:sp>
        <p:nvSpPr>
          <p:cNvPr id="6" name="Text 3"/>
          <p:cNvSpPr/>
          <p:nvPr/>
        </p:nvSpPr>
        <p:spPr>
          <a:xfrm>
            <a:off x="8001000" y="1645920"/>
            <a:ext cx="3383280" cy="365760"/>
          </a:xfrm>
          <a:prstGeom prst="rect">
            <a:avLst/>
          </a:prstGeom>
          <a:noFill/>
          <a:ln/>
        </p:spPr>
        <p:txBody>
          <a:bodyPr wrap="square" rtlCol="0" anchor="ctr"/>
          <a:lstStyle/>
          <a:p>
            <a:pPr marL="0" indent="0">
              <a:buNone/>
            </a:pPr>
            <a:r>
              <a:rPr lang="en-US" sz="1400" b="1" dirty="0">
                <a:solidFill>
                  <a:srgbClr val="0B3B22"/>
                </a:solidFill>
                <a:latin typeface="Cambria" pitchFamily="34" charset="0"/>
                <a:ea typeface="Cambria" pitchFamily="34" charset="-122"/>
                <a:cs typeface="Cambria" pitchFamily="34" charset="-120"/>
              </a:rPr>
              <a:t>Key observations</a:t>
            </a:r>
            <a:endParaRPr lang="en-US" sz="1400" dirty="0"/>
          </a:p>
        </p:txBody>
      </p:sp>
      <p:sp>
        <p:nvSpPr>
          <p:cNvPr id="7" name="Text 4"/>
          <p:cNvSpPr/>
          <p:nvPr/>
        </p:nvSpPr>
        <p:spPr>
          <a:xfrm>
            <a:off x="8001000" y="2057400"/>
            <a:ext cx="3383280" cy="2743200"/>
          </a:xfrm>
          <a:prstGeom prst="rect">
            <a:avLst/>
          </a:prstGeom>
          <a:noFill/>
          <a:ln/>
        </p:spPr>
        <p:txBody>
          <a:bodyPr wrap="square" rtlCol="0" anchor="t"/>
          <a:lstStyle/>
          <a:p>
            <a:pPr marL="0" indent="0">
              <a:lnSpc>
                <a:spcPct val="120000"/>
              </a:lnSpc>
              <a:buNone/>
            </a:pPr>
            <a:r>
              <a:rPr lang="en-US" sz="1100" b="1" dirty="0">
                <a:solidFill>
                  <a:srgbClr val="00A651"/>
                </a:solidFill>
                <a:latin typeface="Calibri" pitchFamily="34" charset="0"/>
                <a:ea typeface="Calibri" pitchFamily="34" charset="-122"/>
                <a:cs typeface="Calibri" pitchFamily="34" charset="-120"/>
              </a:rPr>
              <a:t>• </a:t>
            </a:r>
            <a:r>
              <a:rPr lang="en-US" sz="1100" dirty="0">
                <a:solidFill>
                  <a:srgbClr val="1B1B1B"/>
                </a:solidFill>
                <a:latin typeface="Calibri" pitchFamily="34" charset="0"/>
                <a:ea typeface="Calibri" pitchFamily="34" charset="-122"/>
                <a:cs typeface="Calibri" pitchFamily="34" charset="-120"/>
              </a:rPr>
              <a:t>Fraud rate fluctuates across the day rather than staying flat, suggesting time-of-day carries predictive signal.
</a:t>
            </a:r>
            <a:r>
              <a:rPr lang="en-US" sz="1100" b="1" dirty="0">
                <a:solidFill>
                  <a:srgbClr val="00A651"/>
                </a:solidFill>
                <a:latin typeface="Calibri" pitchFamily="34" charset="0"/>
                <a:ea typeface="Calibri" pitchFamily="34" charset="-122"/>
                <a:cs typeface="Calibri" pitchFamily="34" charset="-120"/>
              </a:rPr>
              <a:t>• </a:t>
            </a:r>
            <a:r>
              <a:rPr lang="en-US" sz="1100" dirty="0">
                <a:solidFill>
                  <a:srgbClr val="1B1B1B"/>
                </a:solidFill>
                <a:latin typeface="Calibri" pitchFamily="34" charset="0"/>
                <a:ea typeface="Calibri" pitchFamily="34" charset="-122"/>
                <a:cs typeface="Calibri" pitchFamily="34" charset="-120"/>
              </a:rPr>
              <a:t>Balance-transfer amounts (sender/receiver before &amp; after) are the richest numeric features available.
</a:t>
            </a:r>
            <a:r>
              <a:rPr lang="en-US" sz="1100" b="1" dirty="0">
                <a:solidFill>
                  <a:srgbClr val="00A651"/>
                </a:solidFill>
                <a:latin typeface="Calibri" pitchFamily="34" charset="0"/>
                <a:ea typeface="Calibri" pitchFamily="34" charset="-122"/>
                <a:cs typeface="Calibri" pitchFamily="34" charset="-120"/>
              </a:rPr>
              <a:t>• </a:t>
            </a:r>
            <a:r>
              <a:rPr lang="en-US" sz="1100" dirty="0">
                <a:solidFill>
                  <a:srgbClr val="1B1B1B"/>
                </a:solidFill>
                <a:latin typeface="Calibri" pitchFamily="34" charset="0"/>
                <a:ea typeface="Calibri" pitchFamily="34" charset="-122"/>
                <a:cs typeface="Calibri" pitchFamily="34" charset="-120"/>
              </a:rPr>
              <a:t>Channel and device patterns (previous slide) motivate one-hot encoding transaction_type and device_type as model inputs.</a:t>
            </a:r>
            <a:endParaRPr lang="en-US" sz="1100" dirty="0"/>
          </a:p>
        </p:txBody>
      </p:sp>
      <p:sp>
        <p:nvSpPr>
          <p:cNvPr id="8" name="Text 5"/>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B62"/>
                </a:solidFill>
                <a:latin typeface="Calibri" pitchFamily="34" charset="0"/>
                <a:ea typeface="Calibri" pitchFamily="34" charset="-122"/>
                <a:cs typeface="Calibri" pitchFamily="34" charset="-120"/>
              </a:rPr>
              <a:t>DAT 3202 · Machine Learning Mini Project · M-Pesa Fraud Detection</a:t>
            </a:r>
            <a:endParaRPr lang="en-US" sz="900" dirty="0"/>
          </a:p>
        </p:txBody>
      </p:sp>
      <p:sp>
        <p:nvSpPr>
          <p:cNvPr id="9" name="Text 6"/>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B6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rtlCol="0" anchor="ctr"/>
          <a:lstStyle/>
          <a:p>
            <a:pPr marL="0" indent="0">
              <a:buNone/>
            </a:pPr>
            <a:r>
              <a:rPr lang="en-US" sz="2800" b="1" dirty="0">
                <a:solidFill>
                  <a:srgbClr val="1B1B1B"/>
                </a:solidFill>
                <a:latin typeface="Cambria" pitchFamily="34" charset="0"/>
                <a:ea typeface="Cambria" pitchFamily="34" charset="-122"/>
                <a:cs typeface="Cambria" pitchFamily="34" charset="-120"/>
              </a:rPr>
              <a:t>Training Data Construction</a:t>
            </a:r>
            <a:endParaRPr lang="en-US" sz="2800" dirty="0"/>
          </a:p>
        </p:txBody>
      </p:sp>
      <p:sp>
        <p:nvSpPr>
          <p:cNvPr id="3" name="Text 1"/>
          <p:cNvSpPr/>
          <p:nvPr/>
        </p:nvSpPr>
        <p:spPr>
          <a:xfrm>
            <a:off x="548640" y="914400"/>
            <a:ext cx="9144000" cy="365760"/>
          </a:xfrm>
          <a:prstGeom prst="rect">
            <a:avLst/>
          </a:prstGeom>
          <a:noFill/>
          <a:ln/>
        </p:spPr>
        <p:txBody>
          <a:bodyPr wrap="square" rtlCol="0" anchor="ctr"/>
          <a:lstStyle/>
          <a:p>
            <a:pPr marL="0" indent="0">
              <a:buNone/>
            </a:pPr>
            <a:r>
              <a:rPr lang="en-US" sz="1400" i="1" dirty="0">
                <a:solidFill>
                  <a:srgbClr val="5B6B62"/>
                </a:solidFill>
                <a:latin typeface="Calibri" pitchFamily="34" charset="0"/>
                <a:ea typeface="Calibri" pitchFamily="34" charset="-122"/>
                <a:cs typeface="Calibri" pitchFamily="34" charset="-120"/>
              </a:rPr>
              <a:t>Preprocessing pipeline applied before model training</a:t>
            </a:r>
            <a:endParaRPr lang="en-US" sz="1400" dirty="0"/>
          </a:p>
        </p:txBody>
      </p:sp>
      <p:sp>
        <p:nvSpPr>
          <p:cNvPr id="4" name="Shape 2"/>
          <p:cNvSpPr/>
          <p:nvPr/>
        </p:nvSpPr>
        <p:spPr>
          <a:xfrm>
            <a:off x="548640" y="1828800"/>
            <a:ext cx="2084832" cy="2834640"/>
          </a:xfrm>
          <a:prstGeom prst="roundRect">
            <a:avLst>
              <a:gd name="adj" fmla="val 4386"/>
            </a:avLst>
          </a:prstGeom>
          <a:solidFill>
            <a:srgbClr val="F2F8F4"/>
          </a:solidFill>
          <a:ln/>
        </p:spPr>
        <p:txBody>
          <a:bodyPr/>
          <a:lstStyle/>
          <a:p>
            <a:endParaRPr lang="en-KE"/>
          </a:p>
        </p:txBody>
      </p:sp>
      <p:sp>
        <p:nvSpPr>
          <p:cNvPr id="5" name="Shape 3"/>
          <p:cNvSpPr/>
          <p:nvPr/>
        </p:nvSpPr>
        <p:spPr>
          <a:xfrm>
            <a:off x="1298448" y="2057400"/>
            <a:ext cx="585216" cy="585216"/>
          </a:xfrm>
          <a:prstGeom prst="ellipse">
            <a:avLst/>
          </a:prstGeom>
          <a:solidFill>
            <a:srgbClr val="00A651"/>
          </a:solidFill>
          <a:ln/>
        </p:spPr>
        <p:txBody>
          <a:bodyPr/>
          <a:lstStyle/>
          <a:p>
            <a:endParaRPr lang="en-KE"/>
          </a:p>
        </p:txBody>
      </p:sp>
      <p:sp>
        <p:nvSpPr>
          <p:cNvPr id="6" name="Text 4"/>
          <p:cNvSpPr/>
          <p:nvPr/>
        </p:nvSpPr>
        <p:spPr>
          <a:xfrm>
            <a:off x="1298448" y="2057400"/>
            <a:ext cx="585216" cy="585216"/>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548640" y="2788920"/>
            <a:ext cx="2084832" cy="365760"/>
          </a:xfrm>
          <a:prstGeom prst="rect">
            <a:avLst/>
          </a:prstGeom>
          <a:noFill/>
          <a:ln/>
        </p:spPr>
        <p:txBody>
          <a:bodyPr wrap="square" rtlCol="0" anchor="ctr"/>
          <a:lstStyle/>
          <a:p>
            <a:pPr marL="0" indent="0" algn="ctr">
              <a:buNone/>
            </a:pPr>
            <a:r>
              <a:rPr lang="en-US" sz="1400" b="1" dirty="0">
                <a:solidFill>
                  <a:srgbClr val="0B3B22"/>
                </a:solidFill>
                <a:latin typeface="Cambria" pitchFamily="34" charset="0"/>
                <a:ea typeface="Cambria" pitchFamily="34" charset="-122"/>
                <a:cs typeface="Cambria" pitchFamily="34" charset="-120"/>
              </a:rPr>
              <a:t>Clean</a:t>
            </a:r>
            <a:endParaRPr lang="en-US" sz="1400" dirty="0"/>
          </a:p>
        </p:txBody>
      </p:sp>
      <p:sp>
        <p:nvSpPr>
          <p:cNvPr id="8" name="Text 6"/>
          <p:cNvSpPr/>
          <p:nvPr/>
        </p:nvSpPr>
        <p:spPr>
          <a:xfrm>
            <a:off x="685800" y="3200400"/>
            <a:ext cx="1810512" cy="1325880"/>
          </a:xfrm>
          <a:prstGeom prst="rect">
            <a:avLst/>
          </a:prstGeom>
          <a:noFill/>
          <a:ln/>
        </p:spPr>
        <p:txBody>
          <a:bodyPr wrap="square" rtlCol="0" anchor="t"/>
          <a:lstStyle/>
          <a:p>
            <a:pPr marL="0" indent="0" algn="ctr">
              <a:lnSpc>
                <a:spcPct val="115000"/>
              </a:lnSpc>
              <a:buNone/>
            </a:pPr>
            <a:r>
              <a:rPr lang="en-US" sz="950" dirty="0">
                <a:solidFill>
                  <a:srgbClr val="1B1B1B"/>
                </a:solidFill>
                <a:latin typeface="Calibri" pitchFamily="34" charset="0"/>
                <a:ea typeface="Calibri" pitchFamily="34" charset="-122"/>
                <a:cs typeface="Calibri" pitchFamily="34" charset="-120"/>
              </a:rPr>
              <a:t>Drop rows with missing values; remove any rows where is_fraud is 'Unknown'</a:t>
            </a:r>
            <a:endParaRPr lang="en-US" sz="950" dirty="0"/>
          </a:p>
        </p:txBody>
      </p:sp>
      <p:sp>
        <p:nvSpPr>
          <p:cNvPr id="9" name="Text 7"/>
          <p:cNvSpPr/>
          <p:nvPr/>
        </p:nvSpPr>
        <p:spPr>
          <a:xfrm>
            <a:off x="2587752" y="2880360"/>
            <a:ext cx="658368" cy="457200"/>
          </a:xfrm>
          <a:prstGeom prst="rect">
            <a:avLst/>
          </a:prstGeom>
          <a:noFill/>
          <a:ln/>
        </p:spPr>
        <p:txBody>
          <a:bodyPr wrap="square" rtlCol="0" anchor="ctr"/>
          <a:lstStyle/>
          <a:p>
            <a:pPr marL="0" indent="0" algn="ctr">
              <a:buNone/>
            </a:pPr>
            <a:r>
              <a:rPr lang="en-US" sz="2000" b="1" dirty="0">
                <a:solidFill>
                  <a:srgbClr val="00A651"/>
                </a:solidFill>
              </a:rPr>
              <a:t>→</a:t>
            </a:r>
            <a:endParaRPr lang="en-US" sz="2000" dirty="0"/>
          </a:p>
        </p:txBody>
      </p:sp>
      <p:sp>
        <p:nvSpPr>
          <p:cNvPr id="10" name="Shape 8"/>
          <p:cNvSpPr/>
          <p:nvPr/>
        </p:nvSpPr>
        <p:spPr>
          <a:xfrm>
            <a:off x="2834640" y="1828800"/>
            <a:ext cx="2084832" cy="2834640"/>
          </a:xfrm>
          <a:prstGeom prst="roundRect">
            <a:avLst>
              <a:gd name="adj" fmla="val 4386"/>
            </a:avLst>
          </a:prstGeom>
          <a:solidFill>
            <a:srgbClr val="E4F2E9"/>
          </a:solidFill>
          <a:ln/>
        </p:spPr>
        <p:txBody>
          <a:bodyPr/>
          <a:lstStyle/>
          <a:p>
            <a:endParaRPr lang="en-KE"/>
          </a:p>
        </p:txBody>
      </p:sp>
      <p:sp>
        <p:nvSpPr>
          <p:cNvPr id="11" name="Shape 9"/>
          <p:cNvSpPr/>
          <p:nvPr/>
        </p:nvSpPr>
        <p:spPr>
          <a:xfrm>
            <a:off x="3584448" y="2057400"/>
            <a:ext cx="585216" cy="585216"/>
          </a:xfrm>
          <a:prstGeom prst="ellipse">
            <a:avLst/>
          </a:prstGeom>
          <a:solidFill>
            <a:srgbClr val="00A651"/>
          </a:solidFill>
          <a:ln/>
        </p:spPr>
        <p:txBody>
          <a:bodyPr/>
          <a:lstStyle/>
          <a:p>
            <a:endParaRPr lang="en-KE"/>
          </a:p>
        </p:txBody>
      </p:sp>
      <p:sp>
        <p:nvSpPr>
          <p:cNvPr id="12" name="Text 10"/>
          <p:cNvSpPr/>
          <p:nvPr/>
        </p:nvSpPr>
        <p:spPr>
          <a:xfrm>
            <a:off x="3584448" y="2057400"/>
            <a:ext cx="585216" cy="585216"/>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2834640" y="2788920"/>
            <a:ext cx="2084832" cy="365760"/>
          </a:xfrm>
          <a:prstGeom prst="rect">
            <a:avLst/>
          </a:prstGeom>
          <a:noFill/>
          <a:ln/>
        </p:spPr>
        <p:txBody>
          <a:bodyPr wrap="square" rtlCol="0" anchor="ctr"/>
          <a:lstStyle/>
          <a:p>
            <a:pPr marL="0" indent="0" algn="ctr">
              <a:buNone/>
            </a:pPr>
            <a:r>
              <a:rPr lang="en-US" sz="1400" b="1" dirty="0">
                <a:solidFill>
                  <a:srgbClr val="0B3B22"/>
                </a:solidFill>
                <a:latin typeface="Cambria" pitchFamily="34" charset="0"/>
                <a:ea typeface="Cambria" pitchFamily="34" charset="-122"/>
                <a:cs typeface="Cambria" pitchFamily="34" charset="-120"/>
              </a:rPr>
              <a:t>Drop ID</a:t>
            </a:r>
            <a:endParaRPr lang="en-US" sz="1400" dirty="0"/>
          </a:p>
        </p:txBody>
      </p:sp>
      <p:sp>
        <p:nvSpPr>
          <p:cNvPr id="14" name="Text 12"/>
          <p:cNvSpPr/>
          <p:nvPr/>
        </p:nvSpPr>
        <p:spPr>
          <a:xfrm>
            <a:off x="2971800" y="3200400"/>
            <a:ext cx="1810512" cy="1325880"/>
          </a:xfrm>
          <a:prstGeom prst="rect">
            <a:avLst/>
          </a:prstGeom>
          <a:noFill/>
          <a:ln/>
        </p:spPr>
        <p:txBody>
          <a:bodyPr wrap="square" rtlCol="0" anchor="t"/>
          <a:lstStyle/>
          <a:p>
            <a:pPr marL="0" indent="0" algn="ctr">
              <a:lnSpc>
                <a:spcPct val="115000"/>
              </a:lnSpc>
              <a:buNone/>
            </a:pPr>
            <a:r>
              <a:rPr lang="en-US" sz="950" dirty="0">
                <a:solidFill>
                  <a:srgbClr val="1B1B1B"/>
                </a:solidFill>
                <a:latin typeface="Calibri" pitchFamily="34" charset="0"/>
                <a:ea typeface="Calibri" pitchFamily="34" charset="-122"/>
                <a:cs typeface="Calibri" pitchFamily="34" charset="-120"/>
              </a:rPr>
              <a:t>Remove transaction_id — a unique row identifier carries no predictive signal and must not be one-hot encoded</a:t>
            </a:r>
            <a:endParaRPr lang="en-US" sz="950" dirty="0"/>
          </a:p>
        </p:txBody>
      </p:sp>
      <p:sp>
        <p:nvSpPr>
          <p:cNvPr id="15" name="Text 13"/>
          <p:cNvSpPr/>
          <p:nvPr/>
        </p:nvSpPr>
        <p:spPr>
          <a:xfrm>
            <a:off x="4873752" y="2880360"/>
            <a:ext cx="658368" cy="457200"/>
          </a:xfrm>
          <a:prstGeom prst="rect">
            <a:avLst/>
          </a:prstGeom>
          <a:noFill/>
          <a:ln/>
        </p:spPr>
        <p:txBody>
          <a:bodyPr wrap="square" rtlCol="0" anchor="ctr"/>
          <a:lstStyle/>
          <a:p>
            <a:pPr marL="0" indent="0" algn="ctr">
              <a:buNone/>
            </a:pPr>
            <a:r>
              <a:rPr lang="en-US" sz="2000" b="1" dirty="0">
                <a:solidFill>
                  <a:srgbClr val="00A651"/>
                </a:solidFill>
              </a:rPr>
              <a:t>→</a:t>
            </a:r>
            <a:endParaRPr lang="en-US" sz="2000" dirty="0"/>
          </a:p>
        </p:txBody>
      </p:sp>
      <p:sp>
        <p:nvSpPr>
          <p:cNvPr id="16" name="Shape 14"/>
          <p:cNvSpPr/>
          <p:nvPr/>
        </p:nvSpPr>
        <p:spPr>
          <a:xfrm>
            <a:off x="5120640" y="1828800"/>
            <a:ext cx="2084832" cy="2834640"/>
          </a:xfrm>
          <a:prstGeom prst="roundRect">
            <a:avLst>
              <a:gd name="adj" fmla="val 4386"/>
            </a:avLst>
          </a:prstGeom>
          <a:solidFill>
            <a:srgbClr val="F2F8F4"/>
          </a:solidFill>
          <a:ln/>
        </p:spPr>
        <p:txBody>
          <a:bodyPr/>
          <a:lstStyle/>
          <a:p>
            <a:endParaRPr lang="en-KE"/>
          </a:p>
        </p:txBody>
      </p:sp>
      <p:sp>
        <p:nvSpPr>
          <p:cNvPr id="17" name="Shape 15"/>
          <p:cNvSpPr/>
          <p:nvPr/>
        </p:nvSpPr>
        <p:spPr>
          <a:xfrm>
            <a:off x="5870448" y="2057400"/>
            <a:ext cx="585216" cy="585216"/>
          </a:xfrm>
          <a:prstGeom prst="ellipse">
            <a:avLst/>
          </a:prstGeom>
          <a:solidFill>
            <a:srgbClr val="00A651"/>
          </a:solidFill>
          <a:ln/>
        </p:spPr>
        <p:txBody>
          <a:bodyPr/>
          <a:lstStyle/>
          <a:p>
            <a:endParaRPr lang="en-KE"/>
          </a:p>
        </p:txBody>
      </p:sp>
      <p:sp>
        <p:nvSpPr>
          <p:cNvPr id="18" name="Text 16"/>
          <p:cNvSpPr/>
          <p:nvPr/>
        </p:nvSpPr>
        <p:spPr>
          <a:xfrm>
            <a:off x="5870448" y="2057400"/>
            <a:ext cx="585216" cy="585216"/>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Text 17"/>
          <p:cNvSpPr/>
          <p:nvPr/>
        </p:nvSpPr>
        <p:spPr>
          <a:xfrm>
            <a:off x="5120640" y="2788920"/>
            <a:ext cx="2084832" cy="365760"/>
          </a:xfrm>
          <a:prstGeom prst="rect">
            <a:avLst/>
          </a:prstGeom>
          <a:noFill/>
          <a:ln/>
        </p:spPr>
        <p:txBody>
          <a:bodyPr wrap="square" rtlCol="0" anchor="ctr"/>
          <a:lstStyle/>
          <a:p>
            <a:pPr marL="0" indent="0" algn="ctr">
              <a:buNone/>
            </a:pPr>
            <a:r>
              <a:rPr lang="en-US" sz="1400" b="1" dirty="0">
                <a:solidFill>
                  <a:srgbClr val="0B3B22"/>
                </a:solidFill>
                <a:latin typeface="Cambria" pitchFamily="34" charset="0"/>
                <a:ea typeface="Cambria" pitchFamily="34" charset="-122"/>
                <a:cs typeface="Cambria" pitchFamily="34" charset="-120"/>
              </a:rPr>
              <a:t>Encode</a:t>
            </a:r>
            <a:endParaRPr lang="en-US" sz="1400" dirty="0"/>
          </a:p>
        </p:txBody>
      </p:sp>
      <p:sp>
        <p:nvSpPr>
          <p:cNvPr id="20" name="Text 18"/>
          <p:cNvSpPr/>
          <p:nvPr/>
        </p:nvSpPr>
        <p:spPr>
          <a:xfrm>
            <a:off x="5257800" y="3200400"/>
            <a:ext cx="1810512" cy="1325880"/>
          </a:xfrm>
          <a:prstGeom prst="rect">
            <a:avLst/>
          </a:prstGeom>
          <a:noFill/>
          <a:ln/>
        </p:spPr>
        <p:txBody>
          <a:bodyPr wrap="square" rtlCol="0" anchor="t"/>
          <a:lstStyle/>
          <a:p>
            <a:pPr marL="0" indent="0" algn="ctr">
              <a:lnSpc>
                <a:spcPct val="115000"/>
              </a:lnSpc>
              <a:buNone/>
            </a:pPr>
            <a:r>
              <a:rPr lang="en-US" sz="950" dirty="0">
                <a:solidFill>
                  <a:srgbClr val="1B1B1B"/>
                </a:solidFill>
                <a:latin typeface="Calibri" pitchFamily="34" charset="0"/>
                <a:ea typeface="Calibri" pitchFamily="34" charset="-122"/>
                <a:cs typeface="Calibri" pitchFamily="34" charset="-120"/>
              </a:rPr>
              <a:t>One-hot encode transaction_type and device_type (drop_first=True); keep only numeric columns</a:t>
            </a:r>
            <a:endParaRPr lang="en-US" sz="950" dirty="0"/>
          </a:p>
        </p:txBody>
      </p:sp>
      <p:sp>
        <p:nvSpPr>
          <p:cNvPr id="21" name="Text 19"/>
          <p:cNvSpPr/>
          <p:nvPr/>
        </p:nvSpPr>
        <p:spPr>
          <a:xfrm>
            <a:off x="7159752" y="2880360"/>
            <a:ext cx="658368" cy="457200"/>
          </a:xfrm>
          <a:prstGeom prst="rect">
            <a:avLst/>
          </a:prstGeom>
          <a:noFill/>
          <a:ln/>
        </p:spPr>
        <p:txBody>
          <a:bodyPr wrap="square" rtlCol="0" anchor="ctr"/>
          <a:lstStyle/>
          <a:p>
            <a:pPr marL="0" indent="0" algn="ctr">
              <a:buNone/>
            </a:pPr>
            <a:r>
              <a:rPr lang="en-US" sz="2000" b="1" dirty="0">
                <a:solidFill>
                  <a:srgbClr val="00A651"/>
                </a:solidFill>
              </a:rPr>
              <a:t>→</a:t>
            </a:r>
            <a:endParaRPr lang="en-US" sz="2000" dirty="0"/>
          </a:p>
        </p:txBody>
      </p:sp>
      <p:sp>
        <p:nvSpPr>
          <p:cNvPr id="22" name="Shape 20"/>
          <p:cNvSpPr/>
          <p:nvPr/>
        </p:nvSpPr>
        <p:spPr>
          <a:xfrm>
            <a:off x="7406640" y="1828800"/>
            <a:ext cx="2084832" cy="2834640"/>
          </a:xfrm>
          <a:prstGeom prst="roundRect">
            <a:avLst>
              <a:gd name="adj" fmla="val 4386"/>
            </a:avLst>
          </a:prstGeom>
          <a:solidFill>
            <a:srgbClr val="E4F2E9"/>
          </a:solidFill>
          <a:ln/>
        </p:spPr>
        <p:txBody>
          <a:bodyPr/>
          <a:lstStyle/>
          <a:p>
            <a:endParaRPr lang="en-KE"/>
          </a:p>
        </p:txBody>
      </p:sp>
      <p:sp>
        <p:nvSpPr>
          <p:cNvPr id="23" name="Shape 21"/>
          <p:cNvSpPr/>
          <p:nvPr/>
        </p:nvSpPr>
        <p:spPr>
          <a:xfrm>
            <a:off x="8156448" y="2057400"/>
            <a:ext cx="585216" cy="585216"/>
          </a:xfrm>
          <a:prstGeom prst="ellipse">
            <a:avLst/>
          </a:prstGeom>
          <a:solidFill>
            <a:srgbClr val="00A651"/>
          </a:solidFill>
          <a:ln/>
        </p:spPr>
        <p:txBody>
          <a:bodyPr/>
          <a:lstStyle/>
          <a:p>
            <a:endParaRPr lang="en-KE"/>
          </a:p>
        </p:txBody>
      </p:sp>
      <p:sp>
        <p:nvSpPr>
          <p:cNvPr id="24" name="Text 22"/>
          <p:cNvSpPr/>
          <p:nvPr/>
        </p:nvSpPr>
        <p:spPr>
          <a:xfrm>
            <a:off x="8156448" y="2057400"/>
            <a:ext cx="585216" cy="585216"/>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5" name="Text 23"/>
          <p:cNvSpPr/>
          <p:nvPr/>
        </p:nvSpPr>
        <p:spPr>
          <a:xfrm>
            <a:off x="7406640" y="2788920"/>
            <a:ext cx="2084832" cy="365760"/>
          </a:xfrm>
          <a:prstGeom prst="rect">
            <a:avLst/>
          </a:prstGeom>
          <a:noFill/>
          <a:ln/>
        </p:spPr>
        <p:txBody>
          <a:bodyPr wrap="square" rtlCol="0" anchor="ctr"/>
          <a:lstStyle/>
          <a:p>
            <a:pPr marL="0" indent="0" algn="ctr">
              <a:buNone/>
            </a:pPr>
            <a:r>
              <a:rPr lang="en-US" sz="1400" b="1" dirty="0">
                <a:solidFill>
                  <a:srgbClr val="0B3B22"/>
                </a:solidFill>
                <a:latin typeface="Cambria" pitchFamily="34" charset="0"/>
                <a:ea typeface="Cambria" pitchFamily="34" charset="-122"/>
                <a:cs typeface="Cambria" pitchFamily="34" charset="-120"/>
              </a:rPr>
              <a:t>Split</a:t>
            </a:r>
            <a:endParaRPr lang="en-US" sz="1400" dirty="0"/>
          </a:p>
        </p:txBody>
      </p:sp>
      <p:sp>
        <p:nvSpPr>
          <p:cNvPr id="26" name="Text 24"/>
          <p:cNvSpPr/>
          <p:nvPr/>
        </p:nvSpPr>
        <p:spPr>
          <a:xfrm>
            <a:off x="7543800" y="3200400"/>
            <a:ext cx="1810512" cy="1325880"/>
          </a:xfrm>
          <a:prstGeom prst="rect">
            <a:avLst/>
          </a:prstGeom>
          <a:noFill/>
          <a:ln/>
        </p:spPr>
        <p:txBody>
          <a:bodyPr wrap="square" rtlCol="0" anchor="t"/>
          <a:lstStyle/>
          <a:p>
            <a:pPr marL="0" indent="0" algn="ctr">
              <a:lnSpc>
                <a:spcPct val="115000"/>
              </a:lnSpc>
              <a:buNone/>
            </a:pPr>
            <a:r>
              <a:rPr lang="en-US" sz="950" dirty="0">
                <a:solidFill>
                  <a:srgbClr val="1B1B1B"/>
                </a:solidFill>
                <a:latin typeface="Calibri" pitchFamily="34" charset="0"/>
                <a:ea typeface="Calibri" pitchFamily="34" charset="-122"/>
                <a:cs typeface="Calibri" pitchFamily="34" charset="-120"/>
              </a:rPr>
              <a:t>80% / 20% stratified train-test split (random_state=42) to preserve the ~2.9% fraud ratio in both sets</a:t>
            </a:r>
            <a:endParaRPr lang="en-US" sz="950" dirty="0"/>
          </a:p>
        </p:txBody>
      </p:sp>
      <p:sp>
        <p:nvSpPr>
          <p:cNvPr id="27" name="Text 25"/>
          <p:cNvSpPr/>
          <p:nvPr/>
        </p:nvSpPr>
        <p:spPr>
          <a:xfrm>
            <a:off x="9445752" y="2880360"/>
            <a:ext cx="658368" cy="457200"/>
          </a:xfrm>
          <a:prstGeom prst="rect">
            <a:avLst/>
          </a:prstGeom>
          <a:noFill/>
          <a:ln/>
        </p:spPr>
        <p:txBody>
          <a:bodyPr wrap="square" rtlCol="0" anchor="ctr"/>
          <a:lstStyle/>
          <a:p>
            <a:pPr marL="0" indent="0" algn="ctr">
              <a:buNone/>
            </a:pPr>
            <a:r>
              <a:rPr lang="en-US" sz="2000" b="1" dirty="0">
                <a:solidFill>
                  <a:srgbClr val="00A651"/>
                </a:solidFill>
              </a:rPr>
              <a:t>→</a:t>
            </a:r>
            <a:endParaRPr lang="en-US" sz="2000" dirty="0"/>
          </a:p>
        </p:txBody>
      </p:sp>
      <p:sp>
        <p:nvSpPr>
          <p:cNvPr id="28" name="Shape 26"/>
          <p:cNvSpPr/>
          <p:nvPr/>
        </p:nvSpPr>
        <p:spPr>
          <a:xfrm>
            <a:off x="9692640" y="1828800"/>
            <a:ext cx="2084832" cy="2834640"/>
          </a:xfrm>
          <a:prstGeom prst="roundRect">
            <a:avLst>
              <a:gd name="adj" fmla="val 4386"/>
            </a:avLst>
          </a:prstGeom>
          <a:solidFill>
            <a:srgbClr val="F2F8F4"/>
          </a:solidFill>
          <a:ln/>
        </p:spPr>
        <p:txBody>
          <a:bodyPr/>
          <a:lstStyle/>
          <a:p>
            <a:endParaRPr lang="en-KE"/>
          </a:p>
        </p:txBody>
      </p:sp>
      <p:sp>
        <p:nvSpPr>
          <p:cNvPr id="29" name="Shape 27"/>
          <p:cNvSpPr/>
          <p:nvPr/>
        </p:nvSpPr>
        <p:spPr>
          <a:xfrm>
            <a:off x="10442448" y="2057400"/>
            <a:ext cx="585216" cy="585216"/>
          </a:xfrm>
          <a:prstGeom prst="ellipse">
            <a:avLst/>
          </a:prstGeom>
          <a:solidFill>
            <a:srgbClr val="00A651"/>
          </a:solidFill>
          <a:ln/>
        </p:spPr>
        <p:txBody>
          <a:bodyPr/>
          <a:lstStyle/>
          <a:p>
            <a:endParaRPr lang="en-KE"/>
          </a:p>
        </p:txBody>
      </p:sp>
      <p:sp>
        <p:nvSpPr>
          <p:cNvPr id="30" name="Text 28"/>
          <p:cNvSpPr/>
          <p:nvPr/>
        </p:nvSpPr>
        <p:spPr>
          <a:xfrm>
            <a:off x="10442448" y="2057400"/>
            <a:ext cx="585216" cy="585216"/>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1" name="Text 29"/>
          <p:cNvSpPr/>
          <p:nvPr/>
        </p:nvSpPr>
        <p:spPr>
          <a:xfrm>
            <a:off x="9692640" y="2788920"/>
            <a:ext cx="2084832" cy="365760"/>
          </a:xfrm>
          <a:prstGeom prst="rect">
            <a:avLst/>
          </a:prstGeom>
          <a:noFill/>
          <a:ln/>
        </p:spPr>
        <p:txBody>
          <a:bodyPr wrap="square" rtlCol="0" anchor="ctr"/>
          <a:lstStyle/>
          <a:p>
            <a:pPr marL="0" indent="0" algn="ctr">
              <a:buNone/>
            </a:pPr>
            <a:r>
              <a:rPr lang="en-US" sz="1400" b="1" dirty="0">
                <a:solidFill>
                  <a:srgbClr val="0B3B22"/>
                </a:solidFill>
                <a:latin typeface="Cambria" pitchFamily="34" charset="0"/>
                <a:ea typeface="Cambria" pitchFamily="34" charset="-122"/>
                <a:cs typeface="Cambria" pitchFamily="34" charset="-120"/>
              </a:rPr>
              <a:t>Scale</a:t>
            </a:r>
            <a:endParaRPr lang="en-US" sz="1400" dirty="0"/>
          </a:p>
        </p:txBody>
      </p:sp>
      <p:sp>
        <p:nvSpPr>
          <p:cNvPr id="32" name="Text 30"/>
          <p:cNvSpPr/>
          <p:nvPr/>
        </p:nvSpPr>
        <p:spPr>
          <a:xfrm>
            <a:off x="9829800" y="3200400"/>
            <a:ext cx="1810512" cy="1325880"/>
          </a:xfrm>
          <a:prstGeom prst="rect">
            <a:avLst/>
          </a:prstGeom>
          <a:noFill/>
          <a:ln/>
        </p:spPr>
        <p:txBody>
          <a:bodyPr wrap="square" rtlCol="0" anchor="t"/>
          <a:lstStyle/>
          <a:p>
            <a:pPr marL="0" indent="0" algn="ctr">
              <a:lnSpc>
                <a:spcPct val="115000"/>
              </a:lnSpc>
              <a:buNone/>
            </a:pPr>
            <a:r>
              <a:rPr lang="en-US" sz="950" dirty="0">
                <a:solidFill>
                  <a:srgbClr val="1B1B1B"/>
                </a:solidFill>
                <a:latin typeface="Calibri" pitchFamily="34" charset="0"/>
                <a:ea typeface="Calibri" pitchFamily="34" charset="-122"/>
                <a:cs typeface="Calibri" pitchFamily="34" charset="-120"/>
              </a:rPr>
              <a:t>StandardScaler fit on training data, applied to both train and test features</a:t>
            </a:r>
            <a:endParaRPr lang="en-US" sz="950" dirty="0"/>
          </a:p>
        </p:txBody>
      </p:sp>
      <p:sp>
        <p:nvSpPr>
          <p:cNvPr id="33" name="Shape 31"/>
          <p:cNvSpPr/>
          <p:nvPr/>
        </p:nvSpPr>
        <p:spPr>
          <a:xfrm>
            <a:off x="548640" y="5029200"/>
            <a:ext cx="11109960" cy="1051560"/>
          </a:xfrm>
          <a:prstGeom prst="roundRect">
            <a:avLst>
              <a:gd name="adj" fmla="val 6957"/>
            </a:avLst>
          </a:prstGeom>
          <a:solidFill>
            <a:srgbClr val="0B3B22"/>
          </a:solidFill>
          <a:ln/>
        </p:spPr>
        <p:txBody>
          <a:bodyPr/>
          <a:lstStyle/>
          <a:p>
            <a:endParaRPr lang="en-KE"/>
          </a:p>
        </p:txBody>
      </p:sp>
      <p:sp>
        <p:nvSpPr>
          <p:cNvPr id="34" name="Text 32"/>
          <p:cNvSpPr/>
          <p:nvPr/>
        </p:nvSpPr>
        <p:spPr>
          <a:xfrm>
            <a:off x="822960" y="5193792"/>
            <a:ext cx="10515600" cy="777240"/>
          </a:xfrm>
          <a:prstGeom prst="rect">
            <a:avLst/>
          </a:prstGeom>
          <a:noFill/>
          <a:ln/>
        </p:spPr>
        <p:txBody>
          <a:bodyPr wrap="square" rtlCol="0" anchor="ctr"/>
          <a:lstStyle/>
          <a:p>
            <a:pPr marL="0" indent="0">
              <a:lnSpc>
                <a:spcPct val="120000"/>
              </a:lnSpc>
              <a:buNone/>
            </a:pPr>
            <a:r>
              <a:rPr lang="en-US" sz="1200" b="1" dirty="0">
                <a:solidFill>
                  <a:srgbClr val="00A651"/>
                </a:solidFill>
                <a:latin typeface="Calibri" pitchFamily="34" charset="0"/>
                <a:ea typeface="Calibri" pitchFamily="34" charset="-122"/>
                <a:cs typeface="Calibri" pitchFamily="34" charset="-120"/>
              </a:rPr>
              <a:t>Result: </a:t>
            </a:r>
            <a:r>
              <a:rPr lang="en-US" sz="1200" dirty="0">
                <a:solidFill>
                  <a:srgbClr val="E9F5EE"/>
                </a:solidFill>
                <a:latin typeface="Calibri" pitchFamily="34" charset="0"/>
                <a:ea typeface="Calibri" pitchFamily="34" charset="-122"/>
                <a:cs typeface="Calibri" pitchFamily="34" charset="-120"/>
              </a:rPr>
              <a:t>96,000 training / 24,000 test transactions, 7 numeric input features (amount, 4 balance fields, hour, month) plus one-hot channel/device flags, all standardized to zero mean / unit variance before modelling.</a:t>
            </a:r>
            <a:endParaRPr lang="en-US" sz="1200" dirty="0"/>
          </a:p>
        </p:txBody>
      </p:sp>
      <p:sp>
        <p:nvSpPr>
          <p:cNvPr id="35" name="Text 33"/>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B62"/>
                </a:solidFill>
                <a:latin typeface="Calibri" pitchFamily="34" charset="0"/>
                <a:ea typeface="Calibri" pitchFamily="34" charset="-122"/>
                <a:cs typeface="Calibri" pitchFamily="34" charset="-120"/>
              </a:rPr>
              <a:t>DAT 3202 · Machine Learning Mini Project · M-Pesa Fraud Detection</a:t>
            </a:r>
            <a:endParaRPr lang="en-US" sz="900" dirty="0"/>
          </a:p>
        </p:txBody>
      </p:sp>
      <p:sp>
        <p:nvSpPr>
          <p:cNvPr id="36" name="Text 3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B6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rtlCol="0" anchor="ctr"/>
          <a:lstStyle/>
          <a:p>
            <a:pPr marL="0" indent="0">
              <a:buNone/>
            </a:pPr>
            <a:r>
              <a:rPr lang="en-US" sz="2800" b="1" dirty="0">
                <a:solidFill>
                  <a:srgbClr val="1B1B1B"/>
                </a:solidFill>
                <a:latin typeface="Cambria" pitchFamily="34" charset="0"/>
                <a:ea typeface="Cambria" pitchFamily="34" charset="-122"/>
                <a:cs typeface="Cambria" pitchFamily="34" charset="-120"/>
              </a:rPr>
              <a:t>Machine Learning Implementation</a:t>
            </a:r>
            <a:endParaRPr lang="en-US" sz="2800" dirty="0"/>
          </a:p>
        </p:txBody>
      </p:sp>
      <p:sp>
        <p:nvSpPr>
          <p:cNvPr id="3" name="Text 1"/>
          <p:cNvSpPr/>
          <p:nvPr/>
        </p:nvSpPr>
        <p:spPr>
          <a:xfrm>
            <a:off x="548640" y="914400"/>
            <a:ext cx="10515600" cy="365760"/>
          </a:xfrm>
          <a:prstGeom prst="rect">
            <a:avLst/>
          </a:prstGeom>
          <a:noFill/>
          <a:ln/>
        </p:spPr>
        <p:txBody>
          <a:bodyPr wrap="square" rtlCol="0" anchor="ctr"/>
          <a:lstStyle/>
          <a:p>
            <a:pPr marL="0" indent="0">
              <a:buNone/>
            </a:pPr>
            <a:r>
              <a:rPr lang="en-US" sz="1350" i="1" dirty="0">
                <a:solidFill>
                  <a:srgbClr val="5B6B62"/>
                </a:solidFill>
                <a:latin typeface="Calibri" pitchFamily="34" charset="0"/>
                <a:ea typeface="Calibri" pitchFamily="34" charset="-122"/>
                <a:cs typeface="Calibri" pitchFamily="34" charset="-120"/>
              </a:rPr>
              <a:t>Four classifiers, each tuned with GridSearchCV using 2-fold cross-validation (scoring = F1)</a:t>
            </a:r>
            <a:endParaRPr lang="en-US" sz="1350" dirty="0"/>
          </a:p>
        </p:txBody>
      </p:sp>
      <p:sp>
        <p:nvSpPr>
          <p:cNvPr id="4" name="Shape 2"/>
          <p:cNvSpPr/>
          <p:nvPr/>
        </p:nvSpPr>
        <p:spPr>
          <a:xfrm>
            <a:off x="548640" y="1508760"/>
            <a:ext cx="5394960" cy="1965960"/>
          </a:xfrm>
          <a:prstGeom prst="roundRect">
            <a:avLst>
              <a:gd name="adj" fmla="val 3721"/>
            </a:avLst>
          </a:prstGeom>
          <a:solidFill>
            <a:srgbClr val="F2F8F4"/>
          </a:solidFill>
          <a:ln/>
        </p:spPr>
        <p:txBody>
          <a:bodyPr/>
          <a:lstStyle/>
          <a:p>
            <a:endParaRPr lang="en-KE"/>
          </a:p>
        </p:txBody>
      </p:sp>
      <p:sp>
        <p:nvSpPr>
          <p:cNvPr id="5" name="Shape 3"/>
          <p:cNvSpPr/>
          <p:nvPr/>
        </p:nvSpPr>
        <p:spPr>
          <a:xfrm>
            <a:off x="777240" y="1737360"/>
            <a:ext cx="502920" cy="502920"/>
          </a:xfrm>
          <a:prstGeom prst="ellipse">
            <a:avLst/>
          </a:prstGeom>
          <a:solidFill>
            <a:srgbClr val="00A651"/>
          </a:solidFill>
          <a:ln/>
        </p:spPr>
        <p:txBody>
          <a:bodyPr/>
          <a:lstStyle/>
          <a:p>
            <a:endParaRPr lang="en-KE"/>
          </a:p>
        </p:txBody>
      </p:sp>
      <p:sp>
        <p:nvSpPr>
          <p:cNvPr id="6" name="Text 4"/>
          <p:cNvSpPr/>
          <p:nvPr/>
        </p:nvSpPr>
        <p:spPr>
          <a:xfrm>
            <a:off x="777240" y="1737360"/>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K</a:t>
            </a:r>
            <a:endParaRPr lang="en-US" sz="2000" dirty="0"/>
          </a:p>
        </p:txBody>
      </p:sp>
      <p:sp>
        <p:nvSpPr>
          <p:cNvPr id="7" name="Text 5"/>
          <p:cNvSpPr/>
          <p:nvPr/>
        </p:nvSpPr>
        <p:spPr>
          <a:xfrm>
            <a:off x="1444752" y="1709928"/>
            <a:ext cx="4297680" cy="548640"/>
          </a:xfrm>
          <a:prstGeom prst="rect">
            <a:avLst/>
          </a:prstGeom>
          <a:noFill/>
          <a:ln/>
        </p:spPr>
        <p:txBody>
          <a:bodyPr wrap="square" rtlCol="0" anchor="t"/>
          <a:lstStyle/>
          <a:p>
            <a:pPr marL="0" indent="0">
              <a:buNone/>
            </a:pPr>
            <a:r>
              <a:rPr lang="en-US" sz="1300" b="1" dirty="0">
                <a:solidFill>
                  <a:srgbClr val="0B3B22"/>
                </a:solidFill>
                <a:latin typeface="Cambria" pitchFamily="34" charset="0"/>
                <a:ea typeface="Cambria" pitchFamily="34" charset="-122"/>
                <a:cs typeface="Cambria" pitchFamily="34" charset="-120"/>
              </a:rPr>
              <a:t>K-Nearest Neighbours</a:t>
            </a:r>
            <a:endParaRPr lang="en-US" sz="1300" dirty="0"/>
          </a:p>
        </p:txBody>
      </p:sp>
      <p:sp>
        <p:nvSpPr>
          <p:cNvPr id="8" name="Text 6"/>
          <p:cNvSpPr/>
          <p:nvPr/>
        </p:nvSpPr>
        <p:spPr>
          <a:xfrm>
            <a:off x="822960" y="2313432"/>
            <a:ext cx="4846320" cy="502920"/>
          </a:xfrm>
          <a:prstGeom prst="rect">
            <a:avLst/>
          </a:prstGeom>
          <a:noFill/>
          <a:ln/>
        </p:spPr>
        <p:txBody>
          <a:bodyPr wrap="square" rtlCol="0" anchor="t"/>
          <a:lstStyle/>
          <a:p>
            <a:pPr marL="0" indent="0">
              <a:lnSpc>
                <a:spcPct val="110000"/>
              </a:lnSpc>
              <a:buNone/>
            </a:pPr>
            <a:r>
              <a:rPr lang="en-US" sz="1050" dirty="0">
                <a:solidFill>
                  <a:srgbClr val="1B1B1B"/>
                </a:solidFill>
                <a:latin typeface="Calibri" pitchFamily="34" charset="0"/>
                <a:ea typeface="Calibri" pitchFamily="34" charset="-122"/>
                <a:cs typeface="Calibri" pitchFamily="34" charset="-120"/>
              </a:rPr>
              <a:t>Distance-based classifier over scaled features.</a:t>
            </a:r>
            <a:endParaRPr lang="en-US" sz="1050" dirty="0"/>
          </a:p>
        </p:txBody>
      </p:sp>
      <p:sp>
        <p:nvSpPr>
          <p:cNvPr id="9" name="Text 7"/>
          <p:cNvSpPr/>
          <p:nvPr/>
        </p:nvSpPr>
        <p:spPr>
          <a:xfrm>
            <a:off x="822960" y="2834640"/>
            <a:ext cx="4846320" cy="548640"/>
          </a:xfrm>
          <a:prstGeom prst="rect">
            <a:avLst/>
          </a:prstGeom>
          <a:noFill/>
          <a:ln/>
        </p:spPr>
        <p:txBody>
          <a:bodyPr wrap="square" rtlCol="0" anchor="t"/>
          <a:lstStyle/>
          <a:p>
            <a:pPr marL="0" indent="0">
              <a:lnSpc>
                <a:spcPct val="110000"/>
              </a:lnSpc>
              <a:buNone/>
            </a:pPr>
            <a:r>
              <a:rPr lang="en-US" sz="950" i="1" dirty="0">
                <a:solidFill>
                  <a:srgbClr val="00A651"/>
                </a:solidFill>
                <a:latin typeface="Calibri" pitchFamily="34" charset="0"/>
                <a:ea typeface="Calibri" pitchFamily="34" charset="-122"/>
                <a:cs typeface="Calibri" pitchFamily="34" charset="-120"/>
              </a:rPr>
              <a:t>Tuned: n_neighbors ∈ {3,5,7,9}, weights ∈ {uniform, distance}</a:t>
            </a:r>
            <a:endParaRPr lang="en-US" sz="950" dirty="0"/>
          </a:p>
        </p:txBody>
      </p:sp>
      <p:sp>
        <p:nvSpPr>
          <p:cNvPr id="10" name="Shape 8"/>
          <p:cNvSpPr/>
          <p:nvPr/>
        </p:nvSpPr>
        <p:spPr>
          <a:xfrm>
            <a:off x="6263640" y="1508760"/>
            <a:ext cx="5394960" cy="1965960"/>
          </a:xfrm>
          <a:prstGeom prst="roundRect">
            <a:avLst>
              <a:gd name="adj" fmla="val 3721"/>
            </a:avLst>
          </a:prstGeom>
          <a:solidFill>
            <a:srgbClr val="F2F8F4"/>
          </a:solidFill>
          <a:ln/>
        </p:spPr>
        <p:txBody>
          <a:bodyPr/>
          <a:lstStyle/>
          <a:p>
            <a:endParaRPr lang="en-KE"/>
          </a:p>
        </p:txBody>
      </p:sp>
      <p:sp>
        <p:nvSpPr>
          <p:cNvPr id="11" name="Shape 9"/>
          <p:cNvSpPr/>
          <p:nvPr/>
        </p:nvSpPr>
        <p:spPr>
          <a:xfrm>
            <a:off x="6492240" y="1737360"/>
            <a:ext cx="502920" cy="502920"/>
          </a:xfrm>
          <a:prstGeom prst="ellipse">
            <a:avLst/>
          </a:prstGeom>
          <a:solidFill>
            <a:srgbClr val="00A651"/>
          </a:solidFill>
          <a:ln/>
        </p:spPr>
        <p:txBody>
          <a:bodyPr/>
          <a:lstStyle/>
          <a:p>
            <a:endParaRPr lang="en-KE"/>
          </a:p>
        </p:txBody>
      </p:sp>
      <p:sp>
        <p:nvSpPr>
          <p:cNvPr id="12" name="Text 10"/>
          <p:cNvSpPr/>
          <p:nvPr/>
        </p:nvSpPr>
        <p:spPr>
          <a:xfrm>
            <a:off x="6492240" y="1737360"/>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a:t>
            </a:r>
            <a:endParaRPr lang="en-US" sz="2000" dirty="0"/>
          </a:p>
        </p:txBody>
      </p:sp>
      <p:sp>
        <p:nvSpPr>
          <p:cNvPr id="13" name="Text 11"/>
          <p:cNvSpPr/>
          <p:nvPr/>
        </p:nvSpPr>
        <p:spPr>
          <a:xfrm>
            <a:off x="7159752" y="1709928"/>
            <a:ext cx="4297680" cy="548640"/>
          </a:xfrm>
          <a:prstGeom prst="rect">
            <a:avLst/>
          </a:prstGeom>
          <a:noFill/>
          <a:ln/>
        </p:spPr>
        <p:txBody>
          <a:bodyPr wrap="square" rtlCol="0" anchor="t"/>
          <a:lstStyle/>
          <a:p>
            <a:pPr marL="0" indent="0">
              <a:buNone/>
            </a:pPr>
            <a:r>
              <a:rPr lang="en-US" sz="1300" b="1" dirty="0">
                <a:solidFill>
                  <a:srgbClr val="0B3B22"/>
                </a:solidFill>
                <a:latin typeface="Cambria" pitchFamily="34" charset="0"/>
                <a:ea typeface="Cambria" pitchFamily="34" charset="-122"/>
                <a:cs typeface="Cambria" pitchFamily="34" charset="-120"/>
              </a:rPr>
              <a:t>Decision Tree</a:t>
            </a:r>
            <a:endParaRPr lang="en-US" sz="1300" dirty="0"/>
          </a:p>
        </p:txBody>
      </p:sp>
      <p:sp>
        <p:nvSpPr>
          <p:cNvPr id="14" name="Text 12"/>
          <p:cNvSpPr/>
          <p:nvPr/>
        </p:nvSpPr>
        <p:spPr>
          <a:xfrm>
            <a:off x="6537960" y="2313432"/>
            <a:ext cx="4846320" cy="502920"/>
          </a:xfrm>
          <a:prstGeom prst="rect">
            <a:avLst/>
          </a:prstGeom>
          <a:noFill/>
          <a:ln/>
        </p:spPr>
        <p:txBody>
          <a:bodyPr wrap="square" rtlCol="0" anchor="t"/>
          <a:lstStyle/>
          <a:p>
            <a:pPr marL="0" indent="0">
              <a:lnSpc>
                <a:spcPct val="110000"/>
              </a:lnSpc>
              <a:buNone/>
            </a:pPr>
            <a:r>
              <a:rPr lang="en-US" sz="1050" dirty="0">
                <a:solidFill>
                  <a:srgbClr val="1B1B1B"/>
                </a:solidFill>
                <a:latin typeface="Calibri" pitchFamily="34" charset="0"/>
                <a:ea typeface="Calibri" pitchFamily="34" charset="-122"/>
                <a:cs typeface="Calibri" pitchFamily="34" charset="-120"/>
              </a:rPr>
              <a:t>Rule-based recursive partitioning, naturally interpretable.</a:t>
            </a:r>
            <a:endParaRPr lang="en-US" sz="1050" dirty="0"/>
          </a:p>
        </p:txBody>
      </p:sp>
      <p:sp>
        <p:nvSpPr>
          <p:cNvPr id="15" name="Text 13"/>
          <p:cNvSpPr/>
          <p:nvPr/>
        </p:nvSpPr>
        <p:spPr>
          <a:xfrm>
            <a:off x="6537960" y="2834640"/>
            <a:ext cx="4846320" cy="548640"/>
          </a:xfrm>
          <a:prstGeom prst="rect">
            <a:avLst/>
          </a:prstGeom>
          <a:noFill/>
          <a:ln/>
        </p:spPr>
        <p:txBody>
          <a:bodyPr wrap="square" rtlCol="0" anchor="t"/>
          <a:lstStyle/>
          <a:p>
            <a:pPr marL="0" indent="0">
              <a:lnSpc>
                <a:spcPct val="110000"/>
              </a:lnSpc>
              <a:buNone/>
            </a:pPr>
            <a:r>
              <a:rPr lang="en-US" sz="950" i="1" dirty="0">
                <a:solidFill>
                  <a:srgbClr val="00A651"/>
                </a:solidFill>
                <a:latin typeface="Calibri" pitchFamily="34" charset="0"/>
                <a:ea typeface="Calibri" pitchFamily="34" charset="-122"/>
                <a:cs typeface="Calibri" pitchFamily="34" charset="-120"/>
              </a:rPr>
              <a:t>Tuned: max_depth ∈ {None,5,10,15}, min_samples_split ∈ {2,5,10}</a:t>
            </a:r>
            <a:endParaRPr lang="en-US" sz="950" dirty="0"/>
          </a:p>
        </p:txBody>
      </p:sp>
      <p:sp>
        <p:nvSpPr>
          <p:cNvPr id="16" name="Shape 14"/>
          <p:cNvSpPr/>
          <p:nvPr/>
        </p:nvSpPr>
        <p:spPr>
          <a:xfrm>
            <a:off x="548640" y="3749040"/>
            <a:ext cx="5394960" cy="1965960"/>
          </a:xfrm>
          <a:prstGeom prst="roundRect">
            <a:avLst>
              <a:gd name="adj" fmla="val 3721"/>
            </a:avLst>
          </a:prstGeom>
          <a:solidFill>
            <a:srgbClr val="F2F8F4"/>
          </a:solidFill>
          <a:ln/>
        </p:spPr>
        <p:txBody>
          <a:bodyPr/>
          <a:lstStyle/>
          <a:p>
            <a:endParaRPr lang="en-KE"/>
          </a:p>
        </p:txBody>
      </p:sp>
      <p:sp>
        <p:nvSpPr>
          <p:cNvPr id="17" name="Shape 15"/>
          <p:cNvSpPr/>
          <p:nvPr/>
        </p:nvSpPr>
        <p:spPr>
          <a:xfrm>
            <a:off x="777240" y="3977640"/>
            <a:ext cx="502920" cy="502920"/>
          </a:xfrm>
          <a:prstGeom prst="ellipse">
            <a:avLst/>
          </a:prstGeom>
          <a:solidFill>
            <a:srgbClr val="00A651"/>
          </a:solidFill>
          <a:ln/>
        </p:spPr>
        <p:txBody>
          <a:bodyPr/>
          <a:lstStyle/>
          <a:p>
            <a:endParaRPr lang="en-KE"/>
          </a:p>
        </p:txBody>
      </p:sp>
      <p:sp>
        <p:nvSpPr>
          <p:cNvPr id="18" name="Text 16"/>
          <p:cNvSpPr/>
          <p:nvPr/>
        </p:nvSpPr>
        <p:spPr>
          <a:xfrm>
            <a:off x="777240" y="3977640"/>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19" name="Text 17"/>
          <p:cNvSpPr/>
          <p:nvPr/>
        </p:nvSpPr>
        <p:spPr>
          <a:xfrm>
            <a:off x="1444752" y="3950208"/>
            <a:ext cx="4297680" cy="548640"/>
          </a:xfrm>
          <a:prstGeom prst="rect">
            <a:avLst/>
          </a:prstGeom>
          <a:noFill/>
          <a:ln/>
        </p:spPr>
        <p:txBody>
          <a:bodyPr wrap="square" rtlCol="0" anchor="t"/>
          <a:lstStyle/>
          <a:p>
            <a:pPr marL="0" indent="0">
              <a:buNone/>
            </a:pPr>
            <a:r>
              <a:rPr lang="en-US" sz="1300" b="1" dirty="0">
                <a:solidFill>
                  <a:srgbClr val="0B3B22"/>
                </a:solidFill>
                <a:latin typeface="Cambria" pitchFamily="34" charset="0"/>
                <a:ea typeface="Cambria" pitchFamily="34" charset="-122"/>
                <a:cs typeface="Cambria" pitchFamily="34" charset="-120"/>
              </a:rPr>
              <a:t>Artificial Neural Network (MLP)</a:t>
            </a:r>
            <a:endParaRPr lang="en-US" sz="1300" dirty="0"/>
          </a:p>
        </p:txBody>
      </p:sp>
      <p:sp>
        <p:nvSpPr>
          <p:cNvPr id="20" name="Text 18"/>
          <p:cNvSpPr/>
          <p:nvPr/>
        </p:nvSpPr>
        <p:spPr>
          <a:xfrm>
            <a:off x="822960" y="4553712"/>
            <a:ext cx="4846320" cy="502920"/>
          </a:xfrm>
          <a:prstGeom prst="rect">
            <a:avLst/>
          </a:prstGeom>
          <a:noFill/>
          <a:ln/>
        </p:spPr>
        <p:txBody>
          <a:bodyPr wrap="square" rtlCol="0" anchor="t"/>
          <a:lstStyle/>
          <a:p>
            <a:pPr marL="0" indent="0">
              <a:lnSpc>
                <a:spcPct val="110000"/>
              </a:lnSpc>
              <a:buNone/>
            </a:pPr>
            <a:r>
              <a:rPr lang="en-US" sz="1050" dirty="0">
                <a:solidFill>
                  <a:srgbClr val="1B1B1B"/>
                </a:solidFill>
                <a:latin typeface="Calibri" pitchFamily="34" charset="0"/>
                <a:ea typeface="Calibri" pitchFamily="34" charset="-122"/>
                <a:cs typeface="Calibri" pitchFamily="34" charset="-120"/>
              </a:rPr>
              <a:t>Single hidden-layer perceptron capturing non-linear interactions.</a:t>
            </a:r>
            <a:endParaRPr lang="en-US" sz="1050" dirty="0"/>
          </a:p>
        </p:txBody>
      </p:sp>
      <p:sp>
        <p:nvSpPr>
          <p:cNvPr id="21" name="Text 19"/>
          <p:cNvSpPr/>
          <p:nvPr/>
        </p:nvSpPr>
        <p:spPr>
          <a:xfrm>
            <a:off x="822960" y="5074920"/>
            <a:ext cx="4846320" cy="548640"/>
          </a:xfrm>
          <a:prstGeom prst="rect">
            <a:avLst/>
          </a:prstGeom>
          <a:noFill/>
          <a:ln/>
        </p:spPr>
        <p:txBody>
          <a:bodyPr wrap="square" rtlCol="0" anchor="t"/>
          <a:lstStyle/>
          <a:p>
            <a:pPr marL="0" indent="0">
              <a:lnSpc>
                <a:spcPct val="110000"/>
              </a:lnSpc>
              <a:buNone/>
            </a:pPr>
            <a:r>
              <a:rPr lang="en-US" sz="950" i="1" dirty="0">
                <a:solidFill>
                  <a:srgbClr val="00A651"/>
                </a:solidFill>
                <a:latin typeface="Calibri" pitchFamily="34" charset="0"/>
                <a:ea typeface="Calibri" pitchFamily="34" charset="-122"/>
                <a:cs typeface="Calibri" pitchFamily="34" charset="-120"/>
              </a:rPr>
              <a:t>Tuned: activation ∈ {relu,tanh}, solver ∈ {adam,sgd}, max_iter ∈ {200,300}</a:t>
            </a:r>
            <a:endParaRPr lang="en-US" sz="950" dirty="0"/>
          </a:p>
        </p:txBody>
      </p:sp>
      <p:sp>
        <p:nvSpPr>
          <p:cNvPr id="22" name="Shape 20"/>
          <p:cNvSpPr/>
          <p:nvPr/>
        </p:nvSpPr>
        <p:spPr>
          <a:xfrm>
            <a:off x="6263640" y="3749040"/>
            <a:ext cx="5394960" cy="1965960"/>
          </a:xfrm>
          <a:prstGeom prst="roundRect">
            <a:avLst>
              <a:gd name="adj" fmla="val 3721"/>
            </a:avLst>
          </a:prstGeom>
          <a:solidFill>
            <a:srgbClr val="F2F8F4"/>
          </a:solidFill>
          <a:ln/>
        </p:spPr>
        <p:txBody>
          <a:bodyPr/>
          <a:lstStyle/>
          <a:p>
            <a:endParaRPr lang="en-KE"/>
          </a:p>
        </p:txBody>
      </p:sp>
      <p:sp>
        <p:nvSpPr>
          <p:cNvPr id="23" name="Shape 21"/>
          <p:cNvSpPr/>
          <p:nvPr/>
        </p:nvSpPr>
        <p:spPr>
          <a:xfrm>
            <a:off x="6492240" y="3977640"/>
            <a:ext cx="502920" cy="502920"/>
          </a:xfrm>
          <a:prstGeom prst="ellipse">
            <a:avLst/>
          </a:prstGeom>
          <a:solidFill>
            <a:srgbClr val="00A651"/>
          </a:solidFill>
          <a:ln/>
        </p:spPr>
        <p:txBody>
          <a:bodyPr/>
          <a:lstStyle/>
          <a:p>
            <a:endParaRPr lang="en-KE"/>
          </a:p>
        </p:txBody>
      </p:sp>
      <p:sp>
        <p:nvSpPr>
          <p:cNvPr id="24" name="Text 22"/>
          <p:cNvSpPr/>
          <p:nvPr/>
        </p:nvSpPr>
        <p:spPr>
          <a:xfrm>
            <a:off x="6492240" y="3977640"/>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a:t>
            </a:r>
            <a:endParaRPr lang="en-US" sz="2000" dirty="0"/>
          </a:p>
        </p:txBody>
      </p:sp>
      <p:sp>
        <p:nvSpPr>
          <p:cNvPr id="25" name="Text 23"/>
          <p:cNvSpPr/>
          <p:nvPr/>
        </p:nvSpPr>
        <p:spPr>
          <a:xfrm>
            <a:off x="7159752" y="3950208"/>
            <a:ext cx="4297680" cy="548640"/>
          </a:xfrm>
          <a:prstGeom prst="rect">
            <a:avLst/>
          </a:prstGeom>
          <a:noFill/>
          <a:ln/>
        </p:spPr>
        <p:txBody>
          <a:bodyPr wrap="square" rtlCol="0" anchor="t"/>
          <a:lstStyle/>
          <a:p>
            <a:pPr marL="0" indent="0">
              <a:buNone/>
            </a:pPr>
            <a:r>
              <a:rPr lang="en-US" sz="1300" b="1" dirty="0">
                <a:solidFill>
                  <a:srgbClr val="0B3B22"/>
                </a:solidFill>
                <a:latin typeface="Cambria" pitchFamily="34" charset="0"/>
                <a:ea typeface="Cambria" pitchFamily="34" charset="-122"/>
                <a:cs typeface="Cambria" pitchFamily="34" charset="-120"/>
              </a:rPr>
              <a:t>Support Vector Machine</a:t>
            </a:r>
            <a:endParaRPr lang="en-US" sz="1300" dirty="0"/>
          </a:p>
        </p:txBody>
      </p:sp>
      <p:sp>
        <p:nvSpPr>
          <p:cNvPr id="26" name="Text 24"/>
          <p:cNvSpPr/>
          <p:nvPr/>
        </p:nvSpPr>
        <p:spPr>
          <a:xfrm>
            <a:off x="6537960" y="4553712"/>
            <a:ext cx="4846320" cy="502920"/>
          </a:xfrm>
          <a:prstGeom prst="rect">
            <a:avLst/>
          </a:prstGeom>
          <a:noFill/>
          <a:ln/>
        </p:spPr>
        <p:txBody>
          <a:bodyPr wrap="square" rtlCol="0" anchor="t"/>
          <a:lstStyle/>
          <a:p>
            <a:pPr marL="0" indent="0">
              <a:lnSpc>
                <a:spcPct val="110000"/>
              </a:lnSpc>
              <a:buNone/>
            </a:pPr>
            <a:r>
              <a:rPr lang="en-US" sz="1050" dirty="0">
                <a:solidFill>
                  <a:srgbClr val="1B1B1B"/>
                </a:solidFill>
                <a:latin typeface="Calibri" pitchFamily="34" charset="0"/>
                <a:ea typeface="Calibri" pitchFamily="34" charset="-122"/>
                <a:cs typeface="Calibri" pitchFamily="34" charset="-120"/>
              </a:rPr>
              <a:t>Linear SVM (LinearSVC) with Platt-calibrated probabilities.</a:t>
            </a:r>
            <a:endParaRPr lang="en-US" sz="1050" dirty="0"/>
          </a:p>
        </p:txBody>
      </p:sp>
      <p:sp>
        <p:nvSpPr>
          <p:cNvPr id="27" name="Text 25"/>
          <p:cNvSpPr/>
          <p:nvPr/>
        </p:nvSpPr>
        <p:spPr>
          <a:xfrm>
            <a:off x="6537960" y="5074920"/>
            <a:ext cx="4846320" cy="548640"/>
          </a:xfrm>
          <a:prstGeom prst="rect">
            <a:avLst/>
          </a:prstGeom>
          <a:noFill/>
          <a:ln/>
        </p:spPr>
        <p:txBody>
          <a:bodyPr wrap="square" rtlCol="0" anchor="t"/>
          <a:lstStyle/>
          <a:p>
            <a:pPr marL="0" indent="0">
              <a:lnSpc>
                <a:spcPct val="110000"/>
              </a:lnSpc>
              <a:buNone/>
            </a:pPr>
            <a:r>
              <a:rPr lang="en-US" sz="950" i="1" dirty="0">
                <a:solidFill>
                  <a:srgbClr val="00A651"/>
                </a:solidFill>
                <a:latin typeface="Calibri" pitchFamily="34" charset="0"/>
                <a:ea typeface="Calibri" pitchFamily="34" charset="-122"/>
                <a:cs typeface="Calibri" pitchFamily="34" charset="-120"/>
              </a:rPr>
              <a:t>Tuned: C ∈ {0.1, 1, 10}</a:t>
            </a:r>
            <a:endParaRPr lang="en-US" sz="950" dirty="0"/>
          </a:p>
        </p:txBody>
      </p:sp>
      <p:sp>
        <p:nvSpPr>
          <p:cNvPr id="28" name="Text 26"/>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B62"/>
                </a:solidFill>
                <a:latin typeface="Calibri" pitchFamily="34" charset="0"/>
                <a:ea typeface="Calibri" pitchFamily="34" charset="-122"/>
                <a:cs typeface="Calibri" pitchFamily="34" charset="-120"/>
              </a:rPr>
              <a:t>DAT 3202 · Machine Learning Mini Project · M-Pesa Fraud Detection</a:t>
            </a:r>
            <a:endParaRPr lang="en-US" sz="900" dirty="0"/>
          </a:p>
        </p:txBody>
      </p:sp>
      <p:sp>
        <p:nvSpPr>
          <p:cNvPr id="29" name="Text 2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B6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502920"/>
          </a:xfrm>
          <a:prstGeom prst="rect">
            <a:avLst/>
          </a:prstGeom>
          <a:noFill/>
          <a:ln/>
        </p:spPr>
        <p:txBody>
          <a:bodyPr wrap="square" rtlCol="0" anchor="ctr"/>
          <a:lstStyle/>
          <a:p>
            <a:pPr marL="0" indent="0">
              <a:buNone/>
            </a:pPr>
            <a:r>
              <a:rPr lang="en-US" sz="2700" b="1" dirty="0">
                <a:solidFill>
                  <a:srgbClr val="1B1B1B"/>
                </a:solidFill>
                <a:latin typeface="Cambria" pitchFamily="34" charset="0"/>
                <a:ea typeface="Cambria" pitchFamily="34" charset="-122"/>
                <a:cs typeface="Cambria" pitchFamily="34" charset="-120"/>
              </a:rPr>
              <a:t>Model Evaluation &amp; Comparison</a:t>
            </a:r>
            <a:endParaRPr lang="en-US" sz="2700" dirty="0"/>
          </a:p>
        </p:txBody>
      </p:sp>
      <p:sp>
        <p:nvSpPr>
          <p:cNvPr id="3" name="Text 1"/>
          <p:cNvSpPr/>
          <p:nvPr/>
        </p:nvSpPr>
        <p:spPr>
          <a:xfrm>
            <a:off x="548640" y="841248"/>
            <a:ext cx="9601200" cy="320040"/>
          </a:xfrm>
          <a:prstGeom prst="rect">
            <a:avLst/>
          </a:prstGeom>
          <a:noFill/>
          <a:ln/>
        </p:spPr>
        <p:txBody>
          <a:bodyPr wrap="square" rtlCol="0" anchor="ctr"/>
          <a:lstStyle/>
          <a:p>
            <a:pPr marL="0" indent="0">
              <a:buNone/>
            </a:pPr>
            <a:r>
              <a:rPr lang="en-US" sz="1300" i="1" dirty="0">
                <a:solidFill>
                  <a:srgbClr val="5B6B62"/>
                </a:solidFill>
                <a:latin typeface="Calibri" pitchFamily="34" charset="0"/>
                <a:ea typeface="Calibri" pitchFamily="34" charset="-122"/>
                <a:cs typeface="Calibri" pitchFamily="34" charset="-120"/>
              </a:rPr>
              <a:t>Classification results on the full 24,000-transaction held-out test set</a:t>
            </a:r>
            <a:endParaRPr lang="en-US" sz="1300" dirty="0"/>
          </a:p>
        </p:txBody>
      </p:sp>
      <p:pic>
        <p:nvPicPr>
          <p:cNvPr id="4" name="Image 0" descr="model_comparison.png"/>
          <p:cNvPicPr>
            <a:picLocks noChangeAspect="1"/>
          </p:cNvPicPr>
          <p:nvPr/>
        </p:nvPicPr>
        <p:blipFill>
          <a:blip r:embed="rId3"/>
          <a:stretch>
            <a:fillRect/>
          </a:stretch>
        </p:blipFill>
        <p:spPr>
          <a:xfrm>
            <a:off x="457200" y="1234440"/>
            <a:ext cx="6766560" cy="4160520"/>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406640" y="1417320"/>
          <a:ext cx="4297680" cy="2286000"/>
        </p:xfrm>
        <a:graphic>
          <a:graphicData uri="http://schemas.openxmlformats.org/drawingml/2006/table">
            <a:tbl>
              <a:tblPr/>
              <a:tblGrid>
                <a:gridCol w="1463040">
                  <a:extLst>
                    <a:ext uri="{9D8B030D-6E8A-4147-A177-3AD203B41FA5}">
                      <a16:colId xmlns:a16="http://schemas.microsoft.com/office/drawing/2014/main" val="20000"/>
                    </a:ext>
                  </a:extLst>
                </a:gridCol>
                <a:gridCol w="713232">
                  <a:extLst>
                    <a:ext uri="{9D8B030D-6E8A-4147-A177-3AD203B41FA5}">
                      <a16:colId xmlns:a16="http://schemas.microsoft.com/office/drawing/2014/main" val="20001"/>
                    </a:ext>
                  </a:extLst>
                </a:gridCol>
                <a:gridCol w="713232">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768096">
                  <a:extLst>
                    <a:ext uri="{9D8B030D-6E8A-4147-A177-3AD203B41FA5}">
                      <a16:colId xmlns:a16="http://schemas.microsoft.com/office/drawing/2014/main" val="20004"/>
                    </a:ext>
                  </a:extLst>
                </a:gridCol>
              </a:tblGrid>
              <a:tr h="457200">
                <a:tc>
                  <a:txBody>
                    <a:bodyPr/>
                    <a:lstStyle/>
                    <a:p>
                      <a:pPr marL="0" indent="0">
                        <a:buNone/>
                      </a:pPr>
                      <a:r>
                        <a:rPr lang="en-US" sz="1200" b="1" dirty="0">
                          <a:solidFill>
                            <a:srgbClr val="FFFFFF"/>
                          </a:solidFill>
                        </a:rPr>
                        <a:t>Model</a:t>
                      </a:r>
                      <a:endParaRPr lang="en-US" sz="12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0B3B22"/>
                    </a:solidFill>
                  </a:tcPr>
                </a:tc>
                <a:tc>
                  <a:txBody>
                    <a:bodyPr/>
                    <a:lstStyle/>
                    <a:p>
                      <a:pPr marL="0" indent="0">
                        <a:buNone/>
                      </a:pPr>
                      <a:r>
                        <a:rPr lang="en-US" sz="1200" b="1" dirty="0">
                          <a:solidFill>
                            <a:srgbClr val="FFFFFF"/>
                          </a:solidFill>
                        </a:rPr>
                        <a:t>Precision</a:t>
                      </a:r>
                      <a:endParaRPr lang="en-US" sz="12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0B3B22"/>
                    </a:solidFill>
                  </a:tcPr>
                </a:tc>
                <a:tc>
                  <a:txBody>
                    <a:bodyPr/>
                    <a:lstStyle/>
                    <a:p>
                      <a:pPr marL="0" indent="0">
                        <a:buNone/>
                      </a:pPr>
                      <a:r>
                        <a:rPr lang="en-US" sz="1200" b="1" dirty="0">
                          <a:solidFill>
                            <a:srgbClr val="FFFFFF"/>
                          </a:solidFill>
                        </a:rPr>
                        <a:t>Recall</a:t>
                      </a:r>
                      <a:endParaRPr lang="en-US" sz="12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0B3B22"/>
                    </a:solidFill>
                  </a:tcPr>
                </a:tc>
                <a:tc>
                  <a:txBody>
                    <a:bodyPr/>
                    <a:lstStyle/>
                    <a:p>
                      <a:pPr marL="0" indent="0">
                        <a:buNone/>
                      </a:pPr>
                      <a:r>
                        <a:rPr lang="en-US" sz="1200" b="1" dirty="0">
                          <a:solidFill>
                            <a:srgbClr val="FFFFFF"/>
                          </a:solidFill>
                        </a:rPr>
                        <a:t>F1</a:t>
                      </a:r>
                      <a:endParaRPr lang="en-US" sz="12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0B3B22"/>
                    </a:solidFill>
                  </a:tcPr>
                </a:tc>
                <a:tc>
                  <a:txBody>
                    <a:bodyPr/>
                    <a:lstStyle/>
                    <a:p>
                      <a:pPr marL="0" indent="0">
                        <a:buNone/>
                      </a:pPr>
                      <a:r>
                        <a:rPr lang="en-US" sz="1200" b="1" dirty="0">
                          <a:solidFill>
                            <a:srgbClr val="FFFFFF"/>
                          </a:solidFill>
                        </a:rPr>
                        <a:t>ROC-AUC</a:t>
                      </a:r>
                      <a:endParaRPr lang="en-US" sz="12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0B3B22"/>
                    </a:solidFill>
                  </a:tcPr>
                </a:tc>
                <a:extLst>
                  <a:ext uri="{0D108BD9-81ED-4DB2-BD59-A6C34878D82A}">
                    <a16:rowId xmlns:a16="http://schemas.microsoft.com/office/drawing/2014/main" val="10000"/>
                  </a:ext>
                </a:extLst>
              </a:tr>
              <a:tr h="457200">
                <a:tc>
                  <a:txBody>
                    <a:bodyPr/>
                    <a:lstStyle/>
                    <a:p>
                      <a:pPr marL="0" indent="0" algn="l">
                        <a:buNone/>
                      </a:pPr>
                      <a:r>
                        <a:rPr lang="en-US" sz="1100" b="1" dirty="0">
                          <a:solidFill>
                            <a:srgbClr val="1B1B1B"/>
                          </a:solidFill>
                        </a:rPr>
                        <a:t>KNN</a:t>
                      </a:r>
                      <a:endParaRPr lang="en-US" sz="11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F2F8F4"/>
                    </a:solidFill>
                  </a:tcPr>
                </a:tc>
                <a:tc>
                  <a:txBody>
                    <a:bodyPr/>
                    <a:lstStyle/>
                    <a:p>
                      <a:pPr marL="0" indent="0" algn="ctr">
                        <a:buNone/>
                      </a:pPr>
                      <a:r>
                        <a:rPr lang="en-US" sz="1100" dirty="0">
                          <a:solidFill>
                            <a:srgbClr val="1B1B1B"/>
                          </a:solidFill>
                        </a:rPr>
                        <a:t>0.613</a:t>
                      </a:r>
                      <a:endParaRPr lang="en-US" sz="11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F2F8F4"/>
                    </a:solidFill>
                  </a:tcPr>
                </a:tc>
                <a:tc>
                  <a:txBody>
                    <a:bodyPr/>
                    <a:lstStyle/>
                    <a:p>
                      <a:pPr marL="0" indent="0" algn="ctr">
                        <a:buNone/>
                      </a:pPr>
                      <a:r>
                        <a:rPr lang="en-US" sz="1100" dirty="0">
                          <a:solidFill>
                            <a:srgbClr val="1B1B1B"/>
                          </a:solidFill>
                        </a:rPr>
                        <a:t>0.293</a:t>
                      </a:r>
                      <a:endParaRPr lang="en-US" sz="11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F2F8F4"/>
                    </a:solidFill>
                  </a:tcPr>
                </a:tc>
                <a:tc>
                  <a:txBody>
                    <a:bodyPr/>
                    <a:lstStyle/>
                    <a:p>
                      <a:pPr marL="0" indent="0" algn="ctr">
                        <a:buNone/>
                      </a:pPr>
                      <a:r>
                        <a:rPr lang="en-US" sz="1100" dirty="0">
                          <a:solidFill>
                            <a:srgbClr val="1B1B1B"/>
                          </a:solidFill>
                        </a:rPr>
                        <a:t>0.397</a:t>
                      </a:r>
                      <a:endParaRPr lang="en-US" sz="11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F2F8F4"/>
                    </a:solidFill>
                  </a:tcPr>
                </a:tc>
                <a:tc>
                  <a:txBody>
                    <a:bodyPr/>
                    <a:lstStyle/>
                    <a:p>
                      <a:pPr marL="0" indent="0" algn="ctr">
                        <a:buNone/>
                      </a:pPr>
                      <a:r>
                        <a:rPr lang="en-US" sz="1100" dirty="0">
                          <a:solidFill>
                            <a:srgbClr val="1B1B1B"/>
                          </a:solidFill>
                        </a:rPr>
                        <a:t>0.760</a:t>
                      </a:r>
                      <a:endParaRPr lang="en-US" sz="11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F2F8F4"/>
                    </a:solidFill>
                  </a:tcPr>
                </a:tc>
                <a:extLst>
                  <a:ext uri="{0D108BD9-81ED-4DB2-BD59-A6C34878D82A}">
                    <a16:rowId xmlns:a16="http://schemas.microsoft.com/office/drawing/2014/main" val="10001"/>
                  </a:ext>
                </a:extLst>
              </a:tr>
              <a:tr h="457200">
                <a:tc>
                  <a:txBody>
                    <a:bodyPr/>
                    <a:lstStyle/>
                    <a:p>
                      <a:pPr marL="0" indent="0" algn="l">
                        <a:buNone/>
                      </a:pPr>
                      <a:r>
                        <a:rPr lang="en-US" sz="1100" b="1" dirty="0">
                          <a:solidFill>
                            <a:srgbClr val="1B1B1B"/>
                          </a:solidFill>
                        </a:rPr>
                        <a:t>Decision Tree</a:t>
                      </a:r>
                      <a:endParaRPr lang="en-US" sz="11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B1B"/>
                          </a:solidFill>
                        </a:rPr>
                        <a:t>0.983</a:t>
                      </a:r>
                      <a:endParaRPr lang="en-US" sz="11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B1B"/>
                          </a:solidFill>
                        </a:rPr>
                        <a:t>0.651</a:t>
                      </a:r>
                      <a:endParaRPr lang="en-US" sz="11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B1B"/>
                          </a:solidFill>
                        </a:rPr>
                        <a:t>0.783</a:t>
                      </a:r>
                      <a:endParaRPr lang="en-US" sz="11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B1B"/>
                          </a:solidFill>
                        </a:rPr>
                        <a:t>0.816</a:t>
                      </a:r>
                      <a:endParaRPr lang="en-US" sz="11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100" b="1" dirty="0">
                          <a:solidFill>
                            <a:srgbClr val="1B1B1B"/>
                          </a:solidFill>
                        </a:rPr>
                        <a:t>ANN (MLP)</a:t>
                      </a:r>
                      <a:endParaRPr lang="en-US" sz="11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F2F8F4"/>
                    </a:solidFill>
                  </a:tcPr>
                </a:tc>
                <a:tc>
                  <a:txBody>
                    <a:bodyPr/>
                    <a:lstStyle/>
                    <a:p>
                      <a:pPr marL="0" indent="0" algn="ctr">
                        <a:buNone/>
                      </a:pPr>
                      <a:r>
                        <a:rPr lang="en-US" sz="1100" dirty="0">
                          <a:solidFill>
                            <a:srgbClr val="1B1B1B"/>
                          </a:solidFill>
                        </a:rPr>
                        <a:t>0.899</a:t>
                      </a:r>
                      <a:endParaRPr lang="en-US" sz="11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F2F8F4"/>
                    </a:solidFill>
                  </a:tcPr>
                </a:tc>
                <a:tc>
                  <a:txBody>
                    <a:bodyPr/>
                    <a:lstStyle/>
                    <a:p>
                      <a:pPr marL="0" indent="0" algn="ctr">
                        <a:buNone/>
                      </a:pPr>
                      <a:r>
                        <a:rPr lang="en-US" sz="1100" dirty="0">
                          <a:solidFill>
                            <a:srgbClr val="1B1B1B"/>
                          </a:solidFill>
                        </a:rPr>
                        <a:t>0.657</a:t>
                      </a:r>
                      <a:endParaRPr lang="en-US" sz="11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F2F8F4"/>
                    </a:solidFill>
                  </a:tcPr>
                </a:tc>
                <a:tc>
                  <a:txBody>
                    <a:bodyPr/>
                    <a:lstStyle/>
                    <a:p>
                      <a:pPr marL="0" indent="0" algn="ctr">
                        <a:buNone/>
                      </a:pPr>
                      <a:r>
                        <a:rPr lang="en-US" sz="1100" dirty="0">
                          <a:solidFill>
                            <a:srgbClr val="1B1B1B"/>
                          </a:solidFill>
                        </a:rPr>
                        <a:t>0.759</a:t>
                      </a:r>
                      <a:endParaRPr lang="en-US" sz="11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F2F8F4"/>
                    </a:solidFill>
                  </a:tcPr>
                </a:tc>
                <a:tc>
                  <a:txBody>
                    <a:bodyPr/>
                    <a:lstStyle/>
                    <a:p>
                      <a:pPr marL="0" indent="0" algn="ctr">
                        <a:buNone/>
                      </a:pPr>
                      <a:r>
                        <a:rPr lang="en-US" sz="1100" dirty="0">
                          <a:solidFill>
                            <a:srgbClr val="1B1B1B"/>
                          </a:solidFill>
                        </a:rPr>
                        <a:t>0.840</a:t>
                      </a:r>
                      <a:endParaRPr lang="en-US" sz="11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F2F8F4"/>
                    </a:solidFill>
                  </a:tcPr>
                </a:tc>
                <a:extLst>
                  <a:ext uri="{0D108BD9-81ED-4DB2-BD59-A6C34878D82A}">
                    <a16:rowId xmlns:a16="http://schemas.microsoft.com/office/drawing/2014/main" val="10003"/>
                  </a:ext>
                </a:extLst>
              </a:tr>
              <a:tr h="457200">
                <a:tc>
                  <a:txBody>
                    <a:bodyPr/>
                    <a:lstStyle/>
                    <a:p>
                      <a:pPr marL="0" indent="0" algn="l">
                        <a:buNone/>
                      </a:pPr>
                      <a:r>
                        <a:rPr lang="en-US" sz="1100" b="1" dirty="0">
                          <a:solidFill>
                            <a:srgbClr val="1B1B1B"/>
                          </a:solidFill>
                        </a:rPr>
                        <a:t>SVM</a:t>
                      </a:r>
                      <a:endParaRPr lang="en-US" sz="11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B1B"/>
                          </a:solidFill>
                        </a:rPr>
                        <a:t>1.000</a:t>
                      </a:r>
                      <a:endParaRPr lang="en-US" sz="11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B1B"/>
                          </a:solidFill>
                        </a:rPr>
                        <a:t>0.577</a:t>
                      </a:r>
                      <a:endParaRPr lang="en-US" sz="11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B1B"/>
                          </a:solidFill>
                        </a:rPr>
                        <a:t>0.732</a:t>
                      </a:r>
                      <a:endParaRPr lang="en-US" sz="11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B1B"/>
                          </a:solidFill>
                        </a:rPr>
                        <a:t>0.823</a:t>
                      </a:r>
                      <a:endParaRPr lang="en-US" sz="1100" dirty="0"/>
                    </a:p>
                  </a:txBody>
                  <a:tcPr anchor="ctr">
                    <a:lnL w="9525" cap="flat" cmpd="sng" algn="ctr">
                      <a:solidFill>
                        <a:srgbClr val="E2E8E2"/>
                      </a:solidFill>
                      <a:prstDash val="solid"/>
                      <a:round/>
                      <a:headEnd type="none" w="med" len="med"/>
                      <a:tailEnd type="none" w="med" len="med"/>
                    </a:lnL>
                    <a:lnR w="9525" cap="flat" cmpd="sng" algn="ctr">
                      <a:solidFill>
                        <a:srgbClr val="E2E8E2"/>
                      </a:solidFill>
                      <a:prstDash val="solid"/>
                      <a:round/>
                      <a:headEnd type="none" w="med" len="med"/>
                      <a:tailEnd type="none" w="med" len="med"/>
                    </a:lnR>
                    <a:lnT w="9525" cap="flat" cmpd="sng" algn="ctr">
                      <a:solidFill>
                        <a:srgbClr val="E2E8E2"/>
                      </a:solidFill>
                      <a:prstDash val="solid"/>
                      <a:round/>
                      <a:headEnd type="none" w="med" len="med"/>
                      <a:tailEnd type="none" w="med" len="med"/>
                    </a:lnT>
                    <a:lnB w="9525" cap="flat" cmpd="sng" algn="ctr">
                      <a:solidFill>
                        <a:srgbClr val="E2E8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hape 2"/>
          <p:cNvSpPr/>
          <p:nvPr/>
        </p:nvSpPr>
        <p:spPr>
          <a:xfrm>
            <a:off x="7406640" y="4343400"/>
            <a:ext cx="4297680" cy="1097280"/>
          </a:xfrm>
          <a:prstGeom prst="roundRect">
            <a:avLst>
              <a:gd name="adj" fmla="val 6667"/>
            </a:avLst>
          </a:prstGeom>
          <a:solidFill>
            <a:srgbClr val="FCEBEC"/>
          </a:solidFill>
          <a:ln/>
        </p:spPr>
        <p:txBody>
          <a:bodyPr/>
          <a:lstStyle/>
          <a:p>
            <a:endParaRPr lang="en-KE"/>
          </a:p>
        </p:txBody>
      </p:sp>
      <p:sp>
        <p:nvSpPr>
          <p:cNvPr id="7" name="Text 3"/>
          <p:cNvSpPr/>
          <p:nvPr/>
        </p:nvSpPr>
        <p:spPr>
          <a:xfrm>
            <a:off x="7589520" y="4434840"/>
            <a:ext cx="3931920" cy="914400"/>
          </a:xfrm>
          <a:prstGeom prst="rect">
            <a:avLst/>
          </a:prstGeom>
          <a:noFill/>
          <a:ln/>
        </p:spPr>
        <p:txBody>
          <a:bodyPr wrap="square" rtlCol="0" anchor="t"/>
          <a:lstStyle/>
          <a:p>
            <a:pPr marL="0" indent="0">
              <a:lnSpc>
                <a:spcPct val="115000"/>
              </a:lnSpc>
              <a:buNone/>
            </a:pPr>
            <a:r>
              <a:rPr lang="en-US" sz="980" b="1" dirty="0">
                <a:solidFill>
                  <a:srgbClr val="E4002B"/>
                </a:solidFill>
                <a:latin typeface="Calibri" pitchFamily="34" charset="0"/>
                <a:ea typeface="Calibri" pitchFamily="34" charset="-122"/>
                <a:cs typeface="Calibri" pitchFamily="34" charset="-120"/>
              </a:rPr>
              <a:t>Accuracy is not shown</a:t>
            </a:r>
            <a:r>
              <a:rPr lang="en-US" sz="980" dirty="0">
                <a:solidFill>
                  <a:srgbClr val="1B1B1B"/>
                </a:solidFill>
                <a:latin typeface="Calibri" pitchFamily="34" charset="0"/>
                <a:ea typeface="Calibri" pitchFamily="34" charset="-122"/>
                <a:cs typeface="Calibri" pitchFamily="34" charset="-120"/>
              </a:rPr>
              <a:t> here on purpose — with only 2.9% fraud, all four models exceed 97% accuracy by simply favouring the majority class, so precision/recall/F1/AUC are the meaningful comparisons.</a:t>
            </a:r>
            <a:endParaRPr lang="en-US" sz="980" dirty="0"/>
          </a:p>
        </p:txBody>
      </p:sp>
      <p:sp>
        <p:nvSpPr>
          <p:cNvPr id="8" name="Text 4"/>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B62"/>
                </a:solidFill>
                <a:latin typeface="Calibri" pitchFamily="34" charset="0"/>
                <a:ea typeface="Calibri" pitchFamily="34" charset="-122"/>
                <a:cs typeface="Calibri" pitchFamily="34" charset="-120"/>
              </a:rPr>
              <a:t>DAT 3202 · Machine Learning Mini Project · M-Pesa Fraud Detection</a:t>
            </a:r>
            <a:endParaRPr lang="en-US" sz="900" dirty="0"/>
          </a:p>
        </p:txBody>
      </p:sp>
      <p:sp>
        <p:nvSpPr>
          <p:cNvPr id="9" name="Text 5"/>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B6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548640"/>
          </a:xfrm>
          <a:prstGeom prst="rect">
            <a:avLst/>
          </a:prstGeom>
          <a:noFill/>
          <a:ln/>
        </p:spPr>
        <p:txBody>
          <a:bodyPr wrap="square" rtlCol="0" anchor="ctr"/>
          <a:lstStyle/>
          <a:p>
            <a:pPr marL="0" indent="0">
              <a:buNone/>
            </a:pPr>
            <a:r>
              <a:rPr lang="en-US" sz="2800" b="1" dirty="0">
                <a:solidFill>
                  <a:srgbClr val="1B1B1B"/>
                </a:solidFill>
                <a:latin typeface="Cambria" pitchFamily="34" charset="0"/>
                <a:ea typeface="Cambria" pitchFamily="34" charset="-122"/>
                <a:cs typeface="Cambria" pitchFamily="34" charset="-120"/>
              </a:rPr>
              <a:t>ROC Curve Comparison</a:t>
            </a:r>
            <a:endParaRPr lang="en-US" sz="2800" dirty="0"/>
          </a:p>
        </p:txBody>
      </p:sp>
      <p:sp>
        <p:nvSpPr>
          <p:cNvPr id="3" name="Text 1"/>
          <p:cNvSpPr/>
          <p:nvPr/>
        </p:nvSpPr>
        <p:spPr>
          <a:xfrm>
            <a:off x="548640" y="914400"/>
            <a:ext cx="9601200" cy="365760"/>
          </a:xfrm>
          <a:prstGeom prst="rect">
            <a:avLst/>
          </a:prstGeom>
          <a:noFill/>
          <a:ln/>
        </p:spPr>
        <p:txBody>
          <a:bodyPr wrap="square" rtlCol="0" anchor="ctr"/>
          <a:lstStyle/>
          <a:p>
            <a:pPr marL="0" indent="0">
              <a:buNone/>
            </a:pPr>
            <a:r>
              <a:rPr lang="en-US" sz="1350" i="1" dirty="0">
                <a:solidFill>
                  <a:srgbClr val="5B6B62"/>
                </a:solidFill>
                <a:latin typeface="Calibri" pitchFamily="34" charset="0"/>
                <a:ea typeface="Calibri" pitchFamily="34" charset="-122"/>
                <a:cs typeface="Calibri" pitchFamily="34" charset="-120"/>
              </a:rPr>
              <a:t>Trade-off between true-positive and false-positive rate across thresholds</a:t>
            </a:r>
            <a:endParaRPr lang="en-US" sz="1350" dirty="0"/>
          </a:p>
        </p:txBody>
      </p:sp>
      <p:pic>
        <p:nvPicPr>
          <p:cNvPr id="4" name="Image 0" descr="roc_curves.png"/>
          <p:cNvPicPr>
            <a:picLocks noChangeAspect="1"/>
          </p:cNvPicPr>
          <p:nvPr/>
        </p:nvPicPr>
        <p:blipFill>
          <a:blip r:embed="rId3"/>
          <a:stretch>
            <a:fillRect/>
          </a:stretch>
        </p:blipFill>
        <p:spPr>
          <a:xfrm>
            <a:off x="1737360" y="1417320"/>
            <a:ext cx="5577840" cy="4206240"/>
          </a:xfrm>
          <a:prstGeom prst="rect">
            <a:avLst/>
          </a:prstGeom>
        </p:spPr>
      </p:pic>
      <p:sp>
        <p:nvSpPr>
          <p:cNvPr id="5" name="Shape 2"/>
          <p:cNvSpPr/>
          <p:nvPr/>
        </p:nvSpPr>
        <p:spPr>
          <a:xfrm>
            <a:off x="7589520" y="1417320"/>
            <a:ext cx="4023360" cy="4206240"/>
          </a:xfrm>
          <a:prstGeom prst="roundRect">
            <a:avLst>
              <a:gd name="adj" fmla="val 1818"/>
            </a:avLst>
          </a:prstGeom>
          <a:solidFill>
            <a:srgbClr val="F2F8F4"/>
          </a:solidFill>
          <a:ln/>
        </p:spPr>
        <p:txBody>
          <a:bodyPr/>
          <a:lstStyle/>
          <a:p>
            <a:endParaRPr lang="en-KE"/>
          </a:p>
        </p:txBody>
      </p:sp>
      <p:sp>
        <p:nvSpPr>
          <p:cNvPr id="6" name="Text 3"/>
          <p:cNvSpPr/>
          <p:nvPr/>
        </p:nvSpPr>
        <p:spPr>
          <a:xfrm>
            <a:off x="7818120" y="1600200"/>
            <a:ext cx="3566160" cy="365760"/>
          </a:xfrm>
          <a:prstGeom prst="rect">
            <a:avLst/>
          </a:prstGeom>
          <a:noFill/>
          <a:ln/>
        </p:spPr>
        <p:txBody>
          <a:bodyPr wrap="square" rtlCol="0" anchor="ctr"/>
          <a:lstStyle/>
          <a:p>
            <a:pPr marL="0" indent="0">
              <a:buNone/>
            </a:pPr>
            <a:r>
              <a:rPr lang="en-US" sz="1400" b="1" dirty="0">
                <a:solidFill>
                  <a:srgbClr val="0B3B22"/>
                </a:solidFill>
                <a:latin typeface="Cambria" pitchFamily="34" charset="0"/>
                <a:ea typeface="Cambria" pitchFamily="34" charset="-122"/>
                <a:cs typeface="Cambria" pitchFamily="34" charset="-120"/>
              </a:rPr>
              <a:t>Reading the curves</a:t>
            </a:r>
            <a:endParaRPr lang="en-US" sz="1400" dirty="0"/>
          </a:p>
        </p:txBody>
      </p:sp>
      <p:sp>
        <p:nvSpPr>
          <p:cNvPr id="7" name="Text 4"/>
          <p:cNvSpPr/>
          <p:nvPr/>
        </p:nvSpPr>
        <p:spPr>
          <a:xfrm>
            <a:off x="7818120" y="2011680"/>
            <a:ext cx="3566160" cy="3429000"/>
          </a:xfrm>
          <a:prstGeom prst="rect">
            <a:avLst/>
          </a:prstGeom>
          <a:noFill/>
          <a:ln/>
        </p:spPr>
        <p:txBody>
          <a:bodyPr wrap="square" rtlCol="0" anchor="t"/>
          <a:lstStyle/>
          <a:p>
            <a:pPr marL="0" indent="0">
              <a:lnSpc>
                <a:spcPct val="125000"/>
              </a:lnSpc>
              <a:buNone/>
            </a:pPr>
            <a:r>
              <a:rPr lang="en-US" sz="1100" b="1" dirty="0">
                <a:solidFill>
                  <a:srgbClr val="00A651"/>
                </a:solidFill>
                <a:latin typeface="Calibri" pitchFamily="34" charset="0"/>
                <a:ea typeface="Calibri" pitchFamily="34" charset="-122"/>
                <a:cs typeface="Calibri" pitchFamily="34" charset="-120"/>
              </a:rPr>
              <a:t>ANN leads </a:t>
            </a:r>
            <a:r>
              <a:rPr lang="en-US" sz="1100" dirty="0">
                <a:solidFill>
                  <a:srgbClr val="1B1B1B"/>
                </a:solidFill>
                <a:latin typeface="Calibri" pitchFamily="34" charset="0"/>
                <a:ea typeface="Calibri" pitchFamily="34" charset="-122"/>
                <a:cs typeface="Calibri" pitchFamily="34" charset="-120"/>
              </a:rPr>
              <a:t>with the highest AUC (0.840), followed by SVM (0.823) and Decision Tree (0.816) — all clearly separating fraud from legitimate activity across thresholds.
</a:t>
            </a:r>
            <a:r>
              <a:rPr lang="en-US" sz="1100" b="1" dirty="0">
                <a:solidFill>
                  <a:srgbClr val="E4002B"/>
                </a:solidFill>
                <a:latin typeface="Calibri" pitchFamily="34" charset="0"/>
                <a:ea typeface="Calibri" pitchFamily="34" charset="-122"/>
                <a:cs typeface="Calibri" pitchFamily="34" charset="-120"/>
              </a:rPr>
              <a:t>KNN trails </a:t>
            </a:r>
            <a:r>
              <a:rPr lang="en-US" sz="1100" dirty="0">
                <a:solidFill>
                  <a:srgbClr val="1B1B1B"/>
                </a:solidFill>
                <a:latin typeface="Calibri" pitchFamily="34" charset="0"/>
                <a:ea typeface="Calibri" pitchFamily="34" charset="-122"/>
                <a:cs typeface="Calibri" pitchFamily="34" charset="-120"/>
              </a:rPr>
              <a:t>(AUC 0.760): distance-based matching struggles once the feature space mixes scaled balances with sparse one-hot channel flags.
All four models comfortably beat the random-classifier baseline (AUC 0.50), confirming genuine predictive signal in the engineered features.</a:t>
            </a:r>
            <a:endParaRPr lang="en-US" sz="1100" dirty="0"/>
          </a:p>
        </p:txBody>
      </p:sp>
      <p:sp>
        <p:nvSpPr>
          <p:cNvPr id="8" name="Text 5"/>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B62"/>
                </a:solidFill>
                <a:latin typeface="Calibri" pitchFamily="34" charset="0"/>
                <a:ea typeface="Calibri" pitchFamily="34" charset="-122"/>
                <a:cs typeface="Calibri" pitchFamily="34" charset="-120"/>
              </a:rPr>
              <a:t>DAT 3202 · Machine Learning Mini Project · M-Pesa Fraud Detection</a:t>
            </a:r>
            <a:endParaRPr lang="en-US" sz="900" dirty="0"/>
          </a:p>
        </p:txBody>
      </p:sp>
      <p:sp>
        <p:nvSpPr>
          <p:cNvPr id="9" name="Text 6"/>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B6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502920"/>
          </a:xfrm>
          <a:prstGeom prst="rect">
            <a:avLst/>
          </a:prstGeom>
          <a:noFill/>
          <a:ln/>
        </p:spPr>
        <p:txBody>
          <a:bodyPr wrap="square" rtlCol="0" anchor="ctr"/>
          <a:lstStyle/>
          <a:p>
            <a:pPr marL="0" indent="0">
              <a:buNone/>
            </a:pPr>
            <a:r>
              <a:rPr lang="en-US" sz="2700" b="1" dirty="0">
                <a:solidFill>
                  <a:srgbClr val="1B1B1B"/>
                </a:solidFill>
                <a:latin typeface="Cambria" pitchFamily="34" charset="0"/>
                <a:ea typeface="Cambria" pitchFamily="34" charset="-122"/>
                <a:cs typeface="Cambria" pitchFamily="34" charset="-120"/>
              </a:rPr>
              <a:t>Confusion Matrices</a:t>
            </a:r>
            <a:endParaRPr lang="en-US" sz="2700" dirty="0"/>
          </a:p>
        </p:txBody>
      </p:sp>
      <p:sp>
        <p:nvSpPr>
          <p:cNvPr id="3" name="Text 1"/>
          <p:cNvSpPr/>
          <p:nvPr/>
        </p:nvSpPr>
        <p:spPr>
          <a:xfrm>
            <a:off x="548640" y="841248"/>
            <a:ext cx="10058400" cy="320040"/>
          </a:xfrm>
          <a:prstGeom prst="rect">
            <a:avLst/>
          </a:prstGeom>
          <a:noFill/>
          <a:ln/>
        </p:spPr>
        <p:txBody>
          <a:bodyPr wrap="square" rtlCol="0" anchor="ctr"/>
          <a:lstStyle/>
          <a:p>
            <a:pPr marL="0" indent="0">
              <a:buNone/>
            </a:pPr>
            <a:r>
              <a:rPr lang="en-US" sz="1250" i="1" dirty="0">
                <a:solidFill>
                  <a:srgbClr val="5B6B62"/>
                </a:solidFill>
                <a:latin typeface="Calibri" pitchFamily="34" charset="0"/>
                <a:ea typeface="Calibri" pitchFamily="34" charset="-122"/>
                <a:cs typeface="Calibri" pitchFamily="34" charset="-120"/>
              </a:rPr>
              <a:t>Test-set errors at the default 0.5 probability threshold (24,000 transactions, 702 fraud)</a:t>
            </a:r>
            <a:endParaRPr lang="en-US" sz="1250" dirty="0"/>
          </a:p>
        </p:txBody>
      </p:sp>
      <p:pic>
        <p:nvPicPr>
          <p:cNvPr id="4" name="Image 0" descr="confusion_matrices.png"/>
          <p:cNvPicPr>
            <a:picLocks noChangeAspect="1"/>
          </p:cNvPicPr>
          <p:nvPr/>
        </p:nvPicPr>
        <p:blipFill>
          <a:blip r:embed="rId3"/>
          <a:stretch>
            <a:fillRect/>
          </a:stretch>
        </p:blipFill>
        <p:spPr>
          <a:xfrm>
            <a:off x="2159726" y="1245326"/>
            <a:ext cx="5120640" cy="4617720"/>
          </a:xfrm>
          <a:prstGeom prst="rect">
            <a:avLst/>
          </a:prstGeom>
        </p:spPr>
      </p:pic>
      <p:sp>
        <p:nvSpPr>
          <p:cNvPr id="5" name="Shape 2"/>
          <p:cNvSpPr/>
          <p:nvPr/>
        </p:nvSpPr>
        <p:spPr>
          <a:xfrm>
            <a:off x="7452360" y="1234440"/>
            <a:ext cx="4206240" cy="4617720"/>
          </a:xfrm>
          <a:prstGeom prst="roundRect">
            <a:avLst>
              <a:gd name="adj" fmla="val 1739"/>
            </a:avLst>
          </a:prstGeom>
          <a:solidFill>
            <a:srgbClr val="F2F8F4"/>
          </a:solidFill>
          <a:ln/>
        </p:spPr>
        <p:txBody>
          <a:bodyPr/>
          <a:lstStyle/>
          <a:p>
            <a:endParaRPr lang="en-KE"/>
          </a:p>
        </p:txBody>
      </p:sp>
      <p:sp>
        <p:nvSpPr>
          <p:cNvPr id="6" name="Text 3"/>
          <p:cNvSpPr/>
          <p:nvPr/>
        </p:nvSpPr>
        <p:spPr>
          <a:xfrm>
            <a:off x="7680960" y="1417320"/>
            <a:ext cx="3749040" cy="548640"/>
          </a:xfrm>
          <a:prstGeom prst="rect">
            <a:avLst/>
          </a:prstGeom>
          <a:noFill/>
          <a:ln/>
        </p:spPr>
        <p:txBody>
          <a:bodyPr wrap="square" rtlCol="0" anchor="ctr"/>
          <a:lstStyle/>
          <a:p>
            <a:pPr marL="0" indent="0">
              <a:buNone/>
            </a:pPr>
            <a:r>
              <a:rPr lang="en-US" sz="1350" b="1" dirty="0">
                <a:solidFill>
                  <a:srgbClr val="0B3B22"/>
                </a:solidFill>
                <a:latin typeface="Cambria" pitchFamily="34" charset="0"/>
                <a:ea typeface="Cambria" pitchFamily="34" charset="-122"/>
                <a:cs typeface="Cambria" pitchFamily="34" charset="-120"/>
              </a:rPr>
              <a:t>What the errors mean for M-Pesa</a:t>
            </a:r>
            <a:endParaRPr lang="en-US" sz="1350" dirty="0"/>
          </a:p>
        </p:txBody>
      </p:sp>
      <p:sp>
        <p:nvSpPr>
          <p:cNvPr id="7" name="Text 4"/>
          <p:cNvSpPr/>
          <p:nvPr/>
        </p:nvSpPr>
        <p:spPr>
          <a:xfrm>
            <a:off x="7680960" y="1965960"/>
            <a:ext cx="3749040" cy="3794760"/>
          </a:xfrm>
          <a:prstGeom prst="rect">
            <a:avLst/>
          </a:prstGeom>
          <a:noFill/>
          <a:ln/>
        </p:spPr>
        <p:txBody>
          <a:bodyPr wrap="square" rtlCol="0" anchor="t"/>
          <a:lstStyle/>
          <a:p>
            <a:pPr marL="0" indent="0">
              <a:lnSpc>
                <a:spcPct val="120000"/>
              </a:lnSpc>
              <a:buNone/>
            </a:pPr>
            <a:r>
              <a:rPr lang="en-US" sz="1030" b="1" dirty="0">
                <a:solidFill>
                  <a:srgbClr val="00A651"/>
                </a:solidFill>
                <a:latin typeface="Calibri" pitchFamily="34" charset="0"/>
                <a:ea typeface="Calibri" pitchFamily="34" charset="-122"/>
                <a:cs typeface="Calibri" pitchFamily="34" charset="-120"/>
              </a:rPr>
              <a:t>Decision Tree </a:t>
            </a:r>
            <a:r>
              <a:rPr lang="en-US" sz="1030" dirty="0">
                <a:solidFill>
                  <a:srgbClr val="1B1B1B"/>
                </a:solidFill>
                <a:latin typeface="Calibri" pitchFamily="34" charset="0"/>
                <a:ea typeface="Calibri" pitchFamily="34" charset="-122"/>
                <a:cs typeface="Calibri" pitchFamily="34" charset="-120"/>
              </a:rPr>
              <a:t>catches the most fraud (457/702, recall 0.65) while keeping false alarms lowest (8) — the strongest overall balance.
</a:t>
            </a:r>
            <a:r>
              <a:rPr lang="en-US" sz="1030" b="1" dirty="0">
                <a:solidFill>
                  <a:srgbClr val="00A651"/>
                </a:solidFill>
                <a:latin typeface="Calibri" pitchFamily="34" charset="0"/>
                <a:ea typeface="Calibri" pitchFamily="34" charset="-122"/>
                <a:cs typeface="Calibri" pitchFamily="34" charset="-120"/>
              </a:rPr>
              <a:t>SVM </a:t>
            </a:r>
            <a:r>
              <a:rPr lang="en-US" sz="1030" dirty="0">
                <a:solidFill>
                  <a:srgbClr val="1B1B1B"/>
                </a:solidFill>
                <a:latin typeface="Calibri" pitchFamily="34" charset="0"/>
                <a:ea typeface="Calibri" pitchFamily="34" charset="-122"/>
                <a:cs typeface="Calibri" pitchFamily="34" charset="-120"/>
              </a:rPr>
              <a:t>never flags a legitimate transaction as fraud (0 false positives, perfect precision), but still misses 297 fraud cases.
</a:t>
            </a:r>
            <a:r>
              <a:rPr lang="en-US" sz="1030" b="1" dirty="0">
                <a:solidFill>
                  <a:srgbClr val="E4002B"/>
                </a:solidFill>
                <a:latin typeface="Calibri" pitchFamily="34" charset="0"/>
                <a:ea typeface="Calibri" pitchFamily="34" charset="-122"/>
                <a:cs typeface="Calibri" pitchFamily="34" charset="-120"/>
              </a:rPr>
              <a:t>KNN </a:t>
            </a:r>
            <a:r>
              <a:rPr lang="en-US" sz="1030" dirty="0">
                <a:solidFill>
                  <a:srgbClr val="1B1B1B"/>
                </a:solidFill>
                <a:latin typeface="Calibri" pitchFamily="34" charset="0"/>
                <a:ea typeface="Calibri" pitchFamily="34" charset="-122"/>
                <a:cs typeface="Calibri" pitchFamily="34" charset="-120"/>
              </a:rPr>
              <a:t>misses the most fraud (496 false negatives) — the weakest choice if the priority is catching fraudulent transfers.
</a:t>
            </a:r>
            <a:r>
              <a:rPr lang="en-US" sz="1030" i="1" dirty="0">
                <a:solidFill>
                  <a:srgbClr val="5B6B62"/>
                </a:solidFill>
                <a:latin typeface="Calibri" pitchFamily="34" charset="0"/>
                <a:ea typeface="Calibri" pitchFamily="34" charset="-122"/>
                <a:cs typeface="Calibri" pitchFamily="34" charset="-120"/>
              </a:rPr>
              <a:t>In production, missed fraud (false negatives) is usually costlier than a false alarm, so recall and F1 matter more than raw accuracy.</a:t>
            </a:r>
            <a:endParaRPr lang="en-US" sz="1030" dirty="0"/>
          </a:p>
        </p:txBody>
      </p:sp>
      <p:sp>
        <p:nvSpPr>
          <p:cNvPr id="8" name="Text 5"/>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B62"/>
                </a:solidFill>
                <a:latin typeface="Calibri" pitchFamily="34" charset="0"/>
                <a:ea typeface="Calibri" pitchFamily="34" charset="-122"/>
                <a:cs typeface="Calibri" pitchFamily="34" charset="-120"/>
              </a:rPr>
              <a:t>DAT 3202 · Machine Learning Mini Project · M-Pesa Fraud Detection</a:t>
            </a:r>
            <a:endParaRPr lang="en-US" sz="900" dirty="0"/>
          </a:p>
        </p:txBody>
      </p:sp>
      <p:sp>
        <p:nvSpPr>
          <p:cNvPr id="9" name="Text 6"/>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B6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515600" cy="548640"/>
          </a:xfrm>
          <a:prstGeom prst="rect">
            <a:avLst/>
          </a:prstGeom>
          <a:noFill/>
          <a:ln/>
        </p:spPr>
        <p:txBody>
          <a:bodyPr wrap="square" rtlCol="0" anchor="ctr"/>
          <a:lstStyle/>
          <a:p>
            <a:pPr marL="0" indent="0">
              <a:buNone/>
            </a:pPr>
            <a:r>
              <a:rPr lang="en-US" sz="2700" b="1" dirty="0">
                <a:solidFill>
                  <a:srgbClr val="1B1B1B"/>
                </a:solidFill>
                <a:latin typeface="Cambria" pitchFamily="34" charset="0"/>
                <a:ea typeface="Cambria" pitchFamily="34" charset="-122"/>
                <a:cs typeface="Cambria" pitchFamily="34" charset="-120"/>
              </a:rPr>
              <a:t>Discussion — Strengths &amp; Weaknesses</a:t>
            </a:r>
            <a:endParaRPr lang="en-US" sz="2700" dirty="0"/>
          </a:p>
        </p:txBody>
      </p:sp>
      <p:sp>
        <p:nvSpPr>
          <p:cNvPr id="3" name="Shape 1"/>
          <p:cNvSpPr/>
          <p:nvPr/>
        </p:nvSpPr>
        <p:spPr>
          <a:xfrm>
            <a:off x="548640" y="1143000"/>
            <a:ext cx="5394960" cy="2194560"/>
          </a:xfrm>
          <a:prstGeom prst="roundRect">
            <a:avLst>
              <a:gd name="adj" fmla="val 3333"/>
            </a:avLst>
          </a:prstGeom>
          <a:solidFill>
            <a:srgbClr val="F2F8F4"/>
          </a:solidFill>
          <a:ln/>
        </p:spPr>
        <p:txBody>
          <a:bodyPr/>
          <a:lstStyle/>
          <a:p>
            <a:endParaRPr lang="en-KE"/>
          </a:p>
        </p:txBody>
      </p:sp>
      <p:sp>
        <p:nvSpPr>
          <p:cNvPr id="4" name="Shape 2"/>
          <p:cNvSpPr/>
          <p:nvPr/>
        </p:nvSpPr>
        <p:spPr>
          <a:xfrm>
            <a:off x="548640" y="1143000"/>
            <a:ext cx="1737360" cy="457200"/>
          </a:xfrm>
          <a:prstGeom prst="roundRect">
            <a:avLst>
              <a:gd name="adj" fmla="val 16000"/>
            </a:avLst>
          </a:prstGeom>
          <a:solidFill>
            <a:srgbClr val="0B3B22"/>
          </a:solidFill>
          <a:ln/>
        </p:spPr>
        <p:txBody>
          <a:bodyPr/>
          <a:lstStyle/>
          <a:p>
            <a:endParaRPr lang="en-KE"/>
          </a:p>
        </p:txBody>
      </p:sp>
      <p:sp>
        <p:nvSpPr>
          <p:cNvPr id="5" name="Text 3"/>
          <p:cNvSpPr/>
          <p:nvPr/>
        </p:nvSpPr>
        <p:spPr>
          <a:xfrm>
            <a:off x="548640" y="1143000"/>
            <a:ext cx="173736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KNN</a:t>
            </a:r>
            <a:endParaRPr lang="en-US" sz="1400" dirty="0"/>
          </a:p>
        </p:txBody>
      </p:sp>
      <p:sp>
        <p:nvSpPr>
          <p:cNvPr id="6" name="Text 4"/>
          <p:cNvSpPr/>
          <p:nvPr/>
        </p:nvSpPr>
        <p:spPr>
          <a:xfrm>
            <a:off x="822960" y="1737360"/>
            <a:ext cx="4846320" cy="685800"/>
          </a:xfrm>
          <a:prstGeom prst="rect">
            <a:avLst/>
          </a:prstGeom>
          <a:noFill/>
          <a:ln/>
        </p:spPr>
        <p:txBody>
          <a:bodyPr wrap="square" rtlCol="0" anchor="t"/>
          <a:lstStyle/>
          <a:p>
            <a:pPr marL="0" indent="0">
              <a:lnSpc>
                <a:spcPct val="115000"/>
              </a:lnSpc>
              <a:buNone/>
            </a:pPr>
            <a:r>
              <a:rPr lang="en-US" sz="1100" b="1" dirty="0">
                <a:solidFill>
                  <a:srgbClr val="0B4F26"/>
                </a:solidFill>
                <a:latin typeface="Calibri" pitchFamily="34" charset="0"/>
                <a:ea typeface="Calibri" pitchFamily="34" charset="-122"/>
                <a:cs typeface="Calibri" pitchFamily="34" charset="-120"/>
              </a:rPr>
              <a:t>+ Simple, no training phase, easy to explain</a:t>
            </a:r>
            <a:endParaRPr lang="en-US" sz="1100" dirty="0"/>
          </a:p>
        </p:txBody>
      </p:sp>
      <p:sp>
        <p:nvSpPr>
          <p:cNvPr id="7" name="Text 5"/>
          <p:cNvSpPr/>
          <p:nvPr/>
        </p:nvSpPr>
        <p:spPr>
          <a:xfrm>
            <a:off x="822960" y="2468880"/>
            <a:ext cx="4846320" cy="777240"/>
          </a:xfrm>
          <a:prstGeom prst="rect">
            <a:avLst/>
          </a:prstGeom>
          <a:noFill/>
          <a:ln/>
        </p:spPr>
        <p:txBody>
          <a:bodyPr wrap="square" rtlCol="0" anchor="t"/>
          <a:lstStyle/>
          <a:p>
            <a:pPr marL="0" indent="0">
              <a:lnSpc>
                <a:spcPct val="115000"/>
              </a:lnSpc>
              <a:buNone/>
            </a:pPr>
            <a:r>
              <a:rPr lang="en-US" sz="1100" b="1" dirty="0">
                <a:solidFill>
                  <a:srgbClr val="E4002B"/>
                </a:solidFill>
                <a:latin typeface="Calibri" pitchFamily="34" charset="0"/>
                <a:ea typeface="Calibri" pitchFamily="34" charset="-122"/>
                <a:cs typeface="Calibri" pitchFamily="34" charset="-120"/>
              </a:rPr>
              <a:t>− Weak on imbalanced, high-dimensional data; lowest F1 &amp; AUC here</a:t>
            </a:r>
            <a:endParaRPr lang="en-US" sz="1100" dirty="0"/>
          </a:p>
        </p:txBody>
      </p:sp>
      <p:sp>
        <p:nvSpPr>
          <p:cNvPr id="8" name="Shape 6"/>
          <p:cNvSpPr/>
          <p:nvPr/>
        </p:nvSpPr>
        <p:spPr>
          <a:xfrm>
            <a:off x="6263640" y="1143000"/>
            <a:ext cx="5394960" cy="2194560"/>
          </a:xfrm>
          <a:prstGeom prst="roundRect">
            <a:avLst>
              <a:gd name="adj" fmla="val 3333"/>
            </a:avLst>
          </a:prstGeom>
          <a:solidFill>
            <a:srgbClr val="F2F8F4"/>
          </a:solidFill>
          <a:ln/>
        </p:spPr>
        <p:txBody>
          <a:bodyPr/>
          <a:lstStyle/>
          <a:p>
            <a:endParaRPr lang="en-KE"/>
          </a:p>
        </p:txBody>
      </p:sp>
      <p:sp>
        <p:nvSpPr>
          <p:cNvPr id="9" name="Shape 7"/>
          <p:cNvSpPr/>
          <p:nvPr/>
        </p:nvSpPr>
        <p:spPr>
          <a:xfrm>
            <a:off x="6263640" y="1143000"/>
            <a:ext cx="1737360" cy="457200"/>
          </a:xfrm>
          <a:prstGeom prst="roundRect">
            <a:avLst>
              <a:gd name="adj" fmla="val 16000"/>
            </a:avLst>
          </a:prstGeom>
          <a:solidFill>
            <a:srgbClr val="0B3B22"/>
          </a:solidFill>
          <a:ln/>
        </p:spPr>
        <p:txBody>
          <a:bodyPr/>
          <a:lstStyle/>
          <a:p>
            <a:endParaRPr lang="en-KE"/>
          </a:p>
        </p:txBody>
      </p:sp>
      <p:sp>
        <p:nvSpPr>
          <p:cNvPr id="10" name="Text 8"/>
          <p:cNvSpPr/>
          <p:nvPr/>
        </p:nvSpPr>
        <p:spPr>
          <a:xfrm>
            <a:off x="6263640" y="1143000"/>
            <a:ext cx="173736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Decision Tree</a:t>
            </a:r>
            <a:endParaRPr lang="en-US" sz="1400" dirty="0"/>
          </a:p>
        </p:txBody>
      </p:sp>
      <p:sp>
        <p:nvSpPr>
          <p:cNvPr id="11" name="Text 9"/>
          <p:cNvSpPr/>
          <p:nvPr/>
        </p:nvSpPr>
        <p:spPr>
          <a:xfrm>
            <a:off x="6537960" y="1737360"/>
            <a:ext cx="4846320" cy="685800"/>
          </a:xfrm>
          <a:prstGeom prst="rect">
            <a:avLst/>
          </a:prstGeom>
          <a:noFill/>
          <a:ln/>
        </p:spPr>
        <p:txBody>
          <a:bodyPr wrap="square" rtlCol="0" anchor="t"/>
          <a:lstStyle/>
          <a:p>
            <a:pPr marL="0" indent="0">
              <a:lnSpc>
                <a:spcPct val="115000"/>
              </a:lnSpc>
              <a:buNone/>
            </a:pPr>
            <a:r>
              <a:rPr lang="en-US" sz="1100" b="1" dirty="0">
                <a:solidFill>
                  <a:srgbClr val="0B4F26"/>
                </a:solidFill>
                <a:latin typeface="Calibri" pitchFamily="34" charset="0"/>
                <a:ea typeface="Calibri" pitchFamily="34" charset="-122"/>
                <a:cs typeface="Calibri" pitchFamily="34" charset="-120"/>
              </a:rPr>
              <a:t>+ Best F1 (0.783); interpretable rules agents/analysts can audit</a:t>
            </a:r>
            <a:endParaRPr lang="en-US" sz="1100" dirty="0"/>
          </a:p>
        </p:txBody>
      </p:sp>
      <p:sp>
        <p:nvSpPr>
          <p:cNvPr id="12" name="Text 10"/>
          <p:cNvSpPr/>
          <p:nvPr/>
        </p:nvSpPr>
        <p:spPr>
          <a:xfrm>
            <a:off x="6537960" y="2468880"/>
            <a:ext cx="4846320" cy="777240"/>
          </a:xfrm>
          <a:prstGeom prst="rect">
            <a:avLst/>
          </a:prstGeom>
          <a:noFill/>
          <a:ln/>
        </p:spPr>
        <p:txBody>
          <a:bodyPr wrap="square" rtlCol="0" anchor="t"/>
          <a:lstStyle/>
          <a:p>
            <a:pPr marL="0" indent="0">
              <a:lnSpc>
                <a:spcPct val="115000"/>
              </a:lnSpc>
              <a:buNone/>
            </a:pPr>
            <a:r>
              <a:rPr lang="en-US" sz="1100" b="1" dirty="0">
                <a:solidFill>
                  <a:srgbClr val="E4002B"/>
                </a:solidFill>
                <a:latin typeface="Calibri" pitchFamily="34" charset="0"/>
                <a:ea typeface="Calibri" pitchFamily="34" charset="-122"/>
                <a:cs typeface="Calibri" pitchFamily="34" charset="-120"/>
              </a:rPr>
              <a:t>− Prone to overfitting without depth limits; single-tree instability</a:t>
            </a:r>
            <a:endParaRPr lang="en-US" sz="1100" dirty="0"/>
          </a:p>
        </p:txBody>
      </p:sp>
      <p:sp>
        <p:nvSpPr>
          <p:cNvPr id="13" name="Shape 11"/>
          <p:cNvSpPr/>
          <p:nvPr/>
        </p:nvSpPr>
        <p:spPr>
          <a:xfrm>
            <a:off x="548640" y="3611880"/>
            <a:ext cx="5394960" cy="2194560"/>
          </a:xfrm>
          <a:prstGeom prst="roundRect">
            <a:avLst>
              <a:gd name="adj" fmla="val 3333"/>
            </a:avLst>
          </a:prstGeom>
          <a:solidFill>
            <a:srgbClr val="F2F8F4"/>
          </a:solidFill>
          <a:ln/>
        </p:spPr>
        <p:txBody>
          <a:bodyPr/>
          <a:lstStyle/>
          <a:p>
            <a:endParaRPr lang="en-KE"/>
          </a:p>
        </p:txBody>
      </p:sp>
      <p:sp>
        <p:nvSpPr>
          <p:cNvPr id="14" name="Shape 12"/>
          <p:cNvSpPr/>
          <p:nvPr/>
        </p:nvSpPr>
        <p:spPr>
          <a:xfrm>
            <a:off x="548640" y="3611880"/>
            <a:ext cx="1737360" cy="457200"/>
          </a:xfrm>
          <a:prstGeom prst="roundRect">
            <a:avLst>
              <a:gd name="adj" fmla="val 16000"/>
            </a:avLst>
          </a:prstGeom>
          <a:solidFill>
            <a:srgbClr val="0B3B22"/>
          </a:solidFill>
          <a:ln/>
        </p:spPr>
        <p:txBody>
          <a:bodyPr/>
          <a:lstStyle/>
          <a:p>
            <a:endParaRPr lang="en-KE"/>
          </a:p>
        </p:txBody>
      </p:sp>
      <p:sp>
        <p:nvSpPr>
          <p:cNvPr id="15" name="Text 13"/>
          <p:cNvSpPr/>
          <p:nvPr/>
        </p:nvSpPr>
        <p:spPr>
          <a:xfrm>
            <a:off x="548640" y="3611880"/>
            <a:ext cx="173736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ANN (MLP)</a:t>
            </a:r>
            <a:endParaRPr lang="en-US" sz="1400" dirty="0"/>
          </a:p>
        </p:txBody>
      </p:sp>
      <p:sp>
        <p:nvSpPr>
          <p:cNvPr id="16" name="Text 14"/>
          <p:cNvSpPr/>
          <p:nvPr/>
        </p:nvSpPr>
        <p:spPr>
          <a:xfrm>
            <a:off x="822960" y="4206240"/>
            <a:ext cx="4846320" cy="685800"/>
          </a:xfrm>
          <a:prstGeom prst="rect">
            <a:avLst/>
          </a:prstGeom>
          <a:noFill/>
          <a:ln/>
        </p:spPr>
        <p:txBody>
          <a:bodyPr wrap="square" rtlCol="0" anchor="t"/>
          <a:lstStyle/>
          <a:p>
            <a:pPr marL="0" indent="0">
              <a:lnSpc>
                <a:spcPct val="115000"/>
              </a:lnSpc>
              <a:buNone/>
            </a:pPr>
            <a:r>
              <a:rPr lang="en-US" sz="1100" b="1" dirty="0">
                <a:solidFill>
                  <a:srgbClr val="0B4F26"/>
                </a:solidFill>
                <a:latin typeface="Calibri" pitchFamily="34" charset="0"/>
                <a:ea typeface="Calibri" pitchFamily="34" charset="-122"/>
                <a:cs typeface="Calibri" pitchFamily="34" charset="-120"/>
              </a:rPr>
              <a:t>+ Highest ROC-AUC (0.840); captures non-linear balance patterns</a:t>
            </a:r>
            <a:endParaRPr lang="en-US" sz="1100" dirty="0"/>
          </a:p>
        </p:txBody>
      </p:sp>
      <p:sp>
        <p:nvSpPr>
          <p:cNvPr id="17" name="Text 15"/>
          <p:cNvSpPr/>
          <p:nvPr/>
        </p:nvSpPr>
        <p:spPr>
          <a:xfrm>
            <a:off x="822960" y="4937760"/>
            <a:ext cx="4846320" cy="777240"/>
          </a:xfrm>
          <a:prstGeom prst="rect">
            <a:avLst/>
          </a:prstGeom>
          <a:noFill/>
          <a:ln/>
        </p:spPr>
        <p:txBody>
          <a:bodyPr wrap="square" rtlCol="0" anchor="t"/>
          <a:lstStyle/>
          <a:p>
            <a:pPr marL="0" indent="0">
              <a:lnSpc>
                <a:spcPct val="115000"/>
              </a:lnSpc>
              <a:buNone/>
            </a:pPr>
            <a:r>
              <a:rPr lang="en-US" sz="1100" b="1" dirty="0">
                <a:solidFill>
                  <a:srgbClr val="E4002B"/>
                </a:solidFill>
                <a:latin typeface="Calibri" pitchFamily="34" charset="0"/>
                <a:ea typeface="Calibri" pitchFamily="34" charset="-122"/>
                <a:cs typeface="Calibri" pitchFamily="34" charset="-120"/>
              </a:rPr>
              <a:t>− Needs more iterations to fully converge; least transparent model</a:t>
            </a:r>
            <a:endParaRPr lang="en-US" sz="1100" dirty="0"/>
          </a:p>
        </p:txBody>
      </p:sp>
      <p:sp>
        <p:nvSpPr>
          <p:cNvPr id="18" name="Shape 16"/>
          <p:cNvSpPr/>
          <p:nvPr/>
        </p:nvSpPr>
        <p:spPr>
          <a:xfrm>
            <a:off x="6263640" y="3611880"/>
            <a:ext cx="5394960" cy="2194560"/>
          </a:xfrm>
          <a:prstGeom prst="roundRect">
            <a:avLst>
              <a:gd name="adj" fmla="val 3333"/>
            </a:avLst>
          </a:prstGeom>
          <a:solidFill>
            <a:srgbClr val="F2F8F4"/>
          </a:solidFill>
          <a:ln/>
        </p:spPr>
        <p:txBody>
          <a:bodyPr/>
          <a:lstStyle/>
          <a:p>
            <a:endParaRPr lang="en-KE"/>
          </a:p>
        </p:txBody>
      </p:sp>
      <p:sp>
        <p:nvSpPr>
          <p:cNvPr id="19" name="Shape 17"/>
          <p:cNvSpPr/>
          <p:nvPr/>
        </p:nvSpPr>
        <p:spPr>
          <a:xfrm>
            <a:off x="6263640" y="3611880"/>
            <a:ext cx="1737360" cy="457200"/>
          </a:xfrm>
          <a:prstGeom prst="roundRect">
            <a:avLst>
              <a:gd name="adj" fmla="val 16000"/>
            </a:avLst>
          </a:prstGeom>
          <a:solidFill>
            <a:srgbClr val="0B3B22"/>
          </a:solidFill>
          <a:ln/>
        </p:spPr>
        <p:txBody>
          <a:bodyPr/>
          <a:lstStyle/>
          <a:p>
            <a:endParaRPr lang="en-KE"/>
          </a:p>
        </p:txBody>
      </p:sp>
      <p:sp>
        <p:nvSpPr>
          <p:cNvPr id="20" name="Text 18"/>
          <p:cNvSpPr/>
          <p:nvPr/>
        </p:nvSpPr>
        <p:spPr>
          <a:xfrm>
            <a:off x="6263640" y="3611880"/>
            <a:ext cx="173736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SVM</a:t>
            </a:r>
            <a:endParaRPr lang="en-US" sz="1400" dirty="0"/>
          </a:p>
        </p:txBody>
      </p:sp>
      <p:sp>
        <p:nvSpPr>
          <p:cNvPr id="21" name="Text 19"/>
          <p:cNvSpPr/>
          <p:nvPr/>
        </p:nvSpPr>
        <p:spPr>
          <a:xfrm>
            <a:off x="6537960" y="4206240"/>
            <a:ext cx="4846320" cy="685800"/>
          </a:xfrm>
          <a:prstGeom prst="rect">
            <a:avLst/>
          </a:prstGeom>
          <a:noFill/>
          <a:ln/>
        </p:spPr>
        <p:txBody>
          <a:bodyPr wrap="square" rtlCol="0" anchor="t"/>
          <a:lstStyle/>
          <a:p>
            <a:pPr marL="0" indent="0">
              <a:lnSpc>
                <a:spcPct val="115000"/>
              </a:lnSpc>
              <a:buNone/>
            </a:pPr>
            <a:r>
              <a:rPr lang="en-US" sz="1100" b="1" dirty="0">
                <a:solidFill>
                  <a:srgbClr val="0B4F26"/>
                </a:solidFill>
                <a:latin typeface="Calibri" pitchFamily="34" charset="0"/>
                <a:ea typeface="Calibri" pitchFamily="34" charset="-122"/>
                <a:cs typeface="Calibri" pitchFamily="34" charset="-120"/>
              </a:rPr>
              <a:t>+ Perfect precision (1.00); zero false alarms in testing</a:t>
            </a:r>
            <a:endParaRPr lang="en-US" sz="1100" dirty="0"/>
          </a:p>
        </p:txBody>
      </p:sp>
      <p:sp>
        <p:nvSpPr>
          <p:cNvPr id="22" name="Text 20"/>
          <p:cNvSpPr/>
          <p:nvPr/>
        </p:nvSpPr>
        <p:spPr>
          <a:xfrm>
            <a:off x="6537960" y="4937760"/>
            <a:ext cx="4846320" cy="777240"/>
          </a:xfrm>
          <a:prstGeom prst="rect">
            <a:avLst/>
          </a:prstGeom>
          <a:noFill/>
          <a:ln/>
        </p:spPr>
        <p:txBody>
          <a:bodyPr wrap="square" rtlCol="0" anchor="t"/>
          <a:lstStyle/>
          <a:p>
            <a:pPr marL="0" indent="0">
              <a:lnSpc>
                <a:spcPct val="115000"/>
              </a:lnSpc>
              <a:buNone/>
            </a:pPr>
            <a:r>
              <a:rPr lang="en-US" sz="1100" b="1" dirty="0">
                <a:solidFill>
                  <a:srgbClr val="E4002B"/>
                </a:solidFill>
                <a:latin typeface="Calibri" pitchFamily="34" charset="0"/>
                <a:ea typeface="Calibri" pitchFamily="34" charset="-122"/>
                <a:cs typeface="Calibri" pitchFamily="34" charset="-120"/>
              </a:rPr>
              <a:t>− Misses more fraud than Decision Tree/ANN; costlier to scale to more data</a:t>
            </a:r>
            <a:endParaRPr lang="en-US" sz="1100" dirty="0"/>
          </a:p>
        </p:txBody>
      </p:sp>
      <p:sp>
        <p:nvSpPr>
          <p:cNvPr id="23" name="Text 21"/>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B62"/>
                </a:solidFill>
                <a:latin typeface="Calibri" pitchFamily="34" charset="0"/>
                <a:ea typeface="Calibri" pitchFamily="34" charset="-122"/>
                <a:cs typeface="Calibri" pitchFamily="34" charset="-120"/>
              </a:rPr>
              <a:t>DAT 3202 · Machine Learning Mini Project · M-Pesa Fraud Detection</a:t>
            </a:r>
            <a:endParaRPr lang="en-US" sz="900" dirty="0"/>
          </a:p>
        </p:txBody>
      </p:sp>
      <p:sp>
        <p:nvSpPr>
          <p:cNvPr id="24" name="Text 22"/>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B6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548640"/>
          </a:xfrm>
          <a:prstGeom prst="rect">
            <a:avLst/>
          </a:prstGeom>
          <a:noFill/>
          <a:ln/>
        </p:spPr>
        <p:txBody>
          <a:bodyPr wrap="square" rtlCol="0" anchor="ctr"/>
          <a:lstStyle/>
          <a:p>
            <a:pPr marL="0" indent="0">
              <a:buNone/>
            </a:pPr>
            <a:r>
              <a:rPr lang="en-US" sz="2800" b="1" dirty="0">
                <a:solidFill>
                  <a:srgbClr val="1B1B1B"/>
                </a:solidFill>
                <a:latin typeface="Cambria" pitchFamily="34" charset="0"/>
                <a:ea typeface="Cambria" pitchFamily="34" charset="-122"/>
                <a:cs typeface="Cambria" pitchFamily="34" charset="-120"/>
              </a:rPr>
              <a:t>Key Findings</a:t>
            </a:r>
            <a:endParaRPr lang="en-US" sz="2800" dirty="0"/>
          </a:p>
        </p:txBody>
      </p:sp>
      <p:sp>
        <p:nvSpPr>
          <p:cNvPr id="3" name="Text 1"/>
          <p:cNvSpPr/>
          <p:nvPr/>
        </p:nvSpPr>
        <p:spPr>
          <a:xfrm>
            <a:off x="548640" y="914400"/>
            <a:ext cx="9601200" cy="365760"/>
          </a:xfrm>
          <a:prstGeom prst="rect">
            <a:avLst/>
          </a:prstGeom>
          <a:noFill/>
          <a:ln/>
        </p:spPr>
        <p:txBody>
          <a:bodyPr wrap="square" rtlCol="0" anchor="ctr"/>
          <a:lstStyle/>
          <a:p>
            <a:pPr marL="0" indent="0">
              <a:buNone/>
            </a:pPr>
            <a:r>
              <a:rPr lang="en-US" sz="1400" i="1" dirty="0">
                <a:solidFill>
                  <a:srgbClr val="5B6B62"/>
                </a:solidFill>
                <a:latin typeface="Calibri" pitchFamily="34" charset="0"/>
                <a:ea typeface="Calibri" pitchFamily="34" charset="-122"/>
                <a:cs typeface="Calibri" pitchFamily="34" charset="-120"/>
              </a:rPr>
              <a:t>Interpreting the results across all 24,000 test-set samples</a:t>
            </a:r>
            <a:endParaRPr lang="en-US" sz="1400" dirty="0"/>
          </a:p>
        </p:txBody>
      </p:sp>
      <p:sp>
        <p:nvSpPr>
          <p:cNvPr id="4" name="Shape 2"/>
          <p:cNvSpPr/>
          <p:nvPr/>
        </p:nvSpPr>
        <p:spPr>
          <a:xfrm>
            <a:off x="548640" y="1463040"/>
            <a:ext cx="11109960" cy="1078992"/>
          </a:xfrm>
          <a:prstGeom prst="roundRect">
            <a:avLst>
              <a:gd name="adj" fmla="val 6780"/>
            </a:avLst>
          </a:prstGeom>
          <a:solidFill>
            <a:srgbClr val="F2F8F4"/>
          </a:solidFill>
          <a:ln w="9525">
            <a:solidFill>
              <a:srgbClr val="E2EFE6"/>
            </a:solidFill>
            <a:prstDash val="solid"/>
          </a:ln>
        </p:spPr>
        <p:txBody>
          <a:bodyPr/>
          <a:lstStyle/>
          <a:p>
            <a:endParaRPr lang="en-KE"/>
          </a:p>
        </p:txBody>
      </p:sp>
      <p:sp>
        <p:nvSpPr>
          <p:cNvPr id="5" name="Shape 3"/>
          <p:cNvSpPr/>
          <p:nvPr/>
        </p:nvSpPr>
        <p:spPr>
          <a:xfrm>
            <a:off x="749808" y="1709928"/>
            <a:ext cx="566928" cy="566928"/>
          </a:xfrm>
          <a:prstGeom prst="ellipse">
            <a:avLst/>
          </a:prstGeom>
          <a:solidFill>
            <a:srgbClr val="00A651"/>
          </a:solidFill>
          <a:ln/>
        </p:spPr>
        <p:txBody>
          <a:bodyPr/>
          <a:lstStyle/>
          <a:p>
            <a:endParaRPr lang="en-KE"/>
          </a:p>
        </p:txBody>
      </p:sp>
      <p:sp>
        <p:nvSpPr>
          <p:cNvPr id="6" name="Text 4"/>
          <p:cNvSpPr/>
          <p:nvPr/>
        </p:nvSpPr>
        <p:spPr>
          <a:xfrm>
            <a:off x="749808" y="1709928"/>
            <a:ext cx="566928" cy="56692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508760" y="1554480"/>
            <a:ext cx="9966960" cy="320040"/>
          </a:xfrm>
          <a:prstGeom prst="rect">
            <a:avLst/>
          </a:prstGeom>
          <a:noFill/>
          <a:ln/>
        </p:spPr>
        <p:txBody>
          <a:bodyPr wrap="square" rtlCol="0" anchor="ctr"/>
          <a:lstStyle/>
          <a:p>
            <a:pPr marL="0" indent="0">
              <a:buNone/>
            </a:pPr>
            <a:r>
              <a:rPr lang="en-US" sz="1300" b="1" dirty="0">
                <a:solidFill>
                  <a:srgbClr val="0B3B22"/>
                </a:solidFill>
                <a:latin typeface="Cambria" pitchFamily="34" charset="0"/>
                <a:ea typeface="Cambria" pitchFamily="34" charset="-122"/>
                <a:cs typeface="Cambria" pitchFamily="34" charset="-120"/>
              </a:rPr>
              <a:t>Accuracy is misleading here</a:t>
            </a:r>
            <a:endParaRPr lang="en-US" sz="1300" dirty="0"/>
          </a:p>
        </p:txBody>
      </p:sp>
      <p:sp>
        <p:nvSpPr>
          <p:cNvPr id="8" name="Text 6"/>
          <p:cNvSpPr/>
          <p:nvPr/>
        </p:nvSpPr>
        <p:spPr>
          <a:xfrm>
            <a:off x="1508760" y="1874520"/>
            <a:ext cx="9966960" cy="621792"/>
          </a:xfrm>
          <a:prstGeom prst="rect">
            <a:avLst/>
          </a:prstGeom>
          <a:noFill/>
          <a:ln/>
        </p:spPr>
        <p:txBody>
          <a:bodyPr wrap="square" rtlCol="0" anchor="t"/>
          <a:lstStyle/>
          <a:p>
            <a:pPr marL="0" indent="0">
              <a:lnSpc>
                <a:spcPct val="110000"/>
              </a:lnSpc>
              <a:buNone/>
            </a:pPr>
            <a:r>
              <a:rPr lang="en-US" sz="1050" dirty="0">
                <a:solidFill>
                  <a:srgbClr val="1B1B1B"/>
                </a:solidFill>
                <a:latin typeface="Calibri" pitchFamily="34" charset="0"/>
                <a:ea typeface="Calibri" pitchFamily="34" charset="-122"/>
                <a:cs typeface="Calibri" pitchFamily="34" charset="-120"/>
              </a:rPr>
              <a:t>All models score 97–99% accuracy purely because fraud is only 2.9% of transactions — a model that predicts 'legitimate' every time would already score ~97%. Precision, recall, F1 and ROC-AUC tell the real story.</a:t>
            </a:r>
            <a:endParaRPr lang="en-US" sz="1050" dirty="0"/>
          </a:p>
        </p:txBody>
      </p:sp>
      <p:sp>
        <p:nvSpPr>
          <p:cNvPr id="9" name="Shape 7"/>
          <p:cNvSpPr/>
          <p:nvPr/>
        </p:nvSpPr>
        <p:spPr>
          <a:xfrm>
            <a:off x="548640" y="2688336"/>
            <a:ext cx="11109960" cy="1078992"/>
          </a:xfrm>
          <a:prstGeom prst="roundRect">
            <a:avLst>
              <a:gd name="adj" fmla="val 6780"/>
            </a:avLst>
          </a:prstGeom>
          <a:solidFill>
            <a:srgbClr val="FFFFFF"/>
          </a:solidFill>
          <a:ln w="9525">
            <a:solidFill>
              <a:srgbClr val="E2EFE6"/>
            </a:solidFill>
            <a:prstDash val="solid"/>
          </a:ln>
        </p:spPr>
        <p:txBody>
          <a:bodyPr/>
          <a:lstStyle/>
          <a:p>
            <a:endParaRPr lang="en-KE"/>
          </a:p>
        </p:txBody>
      </p:sp>
      <p:sp>
        <p:nvSpPr>
          <p:cNvPr id="10" name="Shape 8"/>
          <p:cNvSpPr/>
          <p:nvPr/>
        </p:nvSpPr>
        <p:spPr>
          <a:xfrm>
            <a:off x="749808" y="2935224"/>
            <a:ext cx="566928" cy="566928"/>
          </a:xfrm>
          <a:prstGeom prst="ellipse">
            <a:avLst/>
          </a:prstGeom>
          <a:solidFill>
            <a:srgbClr val="00A651"/>
          </a:solidFill>
          <a:ln/>
        </p:spPr>
        <p:txBody>
          <a:bodyPr/>
          <a:lstStyle/>
          <a:p>
            <a:endParaRPr lang="en-KE"/>
          </a:p>
        </p:txBody>
      </p:sp>
      <p:sp>
        <p:nvSpPr>
          <p:cNvPr id="11" name="Text 9"/>
          <p:cNvSpPr/>
          <p:nvPr/>
        </p:nvSpPr>
        <p:spPr>
          <a:xfrm>
            <a:off x="749808" y="2935224"/>
            <a:ext cx="566928" cy="56692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1508760" y="2779776"/>
            <a:ext cx="9966960" cy="320040"/>
          </a:xfrm>
          <a:prstGeom prst="rect">
            <a:avLst/>
          </a:prstGeom>
          <a:noFill/>
          <a:ln/>
        </p:spPr>
        <p:txBody>
          <a:bodyPr wrap="square" rtlCol="0" anchor="ctr"/>
          <a:lstStyle/>
          <a:p>
            <a:pPr marL="0" indent="0">
              <a:buNone/>
            </a:pPr>
            <a:r>
              <a:rPr lang="en-US" sz="1300" b="1" dirty="0">
                <a:solidFill>
                  <a:srgbClr val="0B3B22"/>
                </a:solidFill>
                <a:latin typeface="Cambria" pitchFamily="34" charset="0"/>
                <a:ea typeface="Cambria" pitchFamily="34" charset="-122"/>
                <a:cs typeface="Cambria" pitchFamily="34" charset="-120"/>
              </a:rPr>
              <a:t>No single model dominates every metric</a:t>
            </a:r>
            <a:endParaRPr lang="en-US" sz="1300" dirty="0"/>
          </a:p>
        </p:txBody>
      </p:sp>
      <p:sp>
        <p:nvSpPr>
          <p:cNvPr id="13" name="Text 11"/>
          <p:cNvSpPr/>
          <p:nvPr/>
        </p:nvSpPr>
        <p:spPr>
          <a:xfrm>
            <a:off x="1508760" y="3099816"/>
            <a:ext cx="9966960" cy="621792"/>
          </a:xfrm>
          <a:prstGeom prst="rect">
            <a:avLst/>
          </a:prstGeom>
          <a:noFill/>
          <a:ln/>
        </p:spPr>
        <p:txBody>
          <a:bodyPr wrap="square" rtlCol="0" anchor="t"/>
          <a:lstStyle/>
          <a:p>
            <a:pPr marL="0" indent="0">
              <a:lnSpc>
                <a:spcPct val="110000"/>
              </a:lnSpc>
              <a:buNone/>
            </a:pPr>
            <a:r>
              <a:rPr lang="en-US" sz="1050" dirty="0">
                <a:solidFill>
                  <a:srgbClr val="1B1B1B"/>
                </a:solidFill>
                <a:latin typeface="Calibri" pitchFamily="34" charset="0"/>
                <a:ea typeface="Calibri" pitchFamily="34" charset="-122"/>
                <a:cs typeface="Calibri" pitchFamily="34" charset="-120"/>
              </a:rPr>
              <a:t>Decision Tree wins on F1 (0.783) and precision-recall balance; ANN wins on ROC-AUC (0.840) i.e. ranking quality; SVM wins on precision (1.00, zero false alarms). The right choice depends on the operating priority.</a:t>
            </a:r>
            <a:endParaRPr lang="en-US" sz="1050" dirty="0"/>
          </a:p>
        </p:txBody>
      </p:sp>
      <p:sp>
        <p:nvSpPr>
          <p:cNvPr id="14" name="Shape 12"/>
          <p:cNvSpPr/>
          <p:nvPr/>
        </p:nvSpPr>
        <p:spPr>
          <a:xfrm>
            <a:off x="548640" y="3913632"/>
            <a:ext cx="11109960" cy="1078992"/>
          </a:xfrm>
          <a:prstGeom prst="roundRect">
            <a:avLst>
              <a:gd name="adj" fmla="val 6780"/>
            </a:avLst>
          </a:prstGeom>
          <a:solidFill>
            <a:srgbClr val="F2F8F4"/>
          </a:solidFill>
          <a:ln w="9525">
            <a:solidFill>
              <a:srgbClr val="E2EFE6"/>
            </a:solidFill>
            <a:prstDash val="solid"/>
          </a:ln>
        </p:spPr>
        <p:txBody>
          <a:bodyPr/>
          <a:lstStyle/>
          <a:p>
            <a:endParaRPr lang="en-KE"/>
          </a:p>
        </p:txBody>
      </p:sp>
      <p:sp>
        <p:nvSpPr>
          <p:cNvPr id="15" name="Shape 13"/>
          <p:cNvSpPr/>
          <p:nvPr/>
        </p:nvSpPr>
        <p:spPr>
          <a:xfrm>
            <a:off x="749808" y="4160520"/>
            <a:ext cx="566928" cy="566928"/>
          </a:xfrm>
          <a:prstGeom prst="ellipse">
            <a:avLst/>
          </a:prstGeom>
          <a:solidFill>
            <a:srgbClr val="00A651"/>
          </a:solidFill>
          <a:ln/>
        </p:spPr>
        <p:txBody>
          <a:bodyPr/>
          <a:lstStyle/>
          <a:p>
            <a:endParaRPr lang="en-KE"/>
          </a:p>
        </p:txBody>
      </p:sp>
      <p:sp>
        <p:nvSpPr>
          <p:cNvPr id="16" name="Text 14"/>
          <p:cNvSpPr/>
          <p:nvPr/>
        </p:nvSpPr>
        <p:spPr>
          <a:xfrm>
            <a:off x="749808" y="4160520"/>
            <a:ext cx="566928" cy="56692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1508760" y="4005072"/>
            <a:ext cx="9966960" cy="320040"/>
          </a:xfrm>
          <a:prstGeom prst="rect">
            <a:avLst/>
          </a:prstGeom>
          <a:noFill/>
          <a:ln/>
        </p:spPr>
        <p:txBody>
          <a:bodyPr wrap="square" rtlCol="0" anchor="ctr"/>
          <a:lstStyle/>
          <a:p>
            <a:pPr marL="0" indent="0">
              <a:buNone/>
            </a:pPr>
            <a:r>
              <a:rPr lang="en-US" sz="1300" b="1" dirty="0">
                <a:solidFill>
                  <a:srgbClr val="0B3B22"/>
                </a:solidFill>
                <a:latin typeface="Cambria" pitchFamily="34" charset="0"/>
                <a:ea typeface="Cambria" pitchFamily="34" charset="-122"/>
                <a:cs typeface="Cambria" pitchFamily="34" charset="-120"/>
              </a:rPr>
              <a:t>Balance-transfer features carry the signal</a:t>
            </a:r>
            <a:endParaRPr lang="en-US" sz="1300" dirty="0"/>
          </a:p>
        </p:txBody>
      </p:sp>
      <p:sp>
        <p:nvSpPr>
          <p:cNvPr id="18" name="Text 16"/>
          <p:cNvSpPr/>
          <p:nvPr/>
        </p:nvSpPr>
        <p:spPr>
          <a:xfrm>
            <a:off x="1508760" y="4325112"/>
            <a:ext cx="9966960" cy="621792"/>
          </a:xfrm>
          <a:prstGeom prst="rect">
            <a:avLst/>
          </a:prstGeom>
          <a:noFill/>
          <a:ln/>
        </p:spPr>
        <p:txBody>
          <a:bodyPr wrap="square" rtlCol="0" anchor="t"/>
          <a:lstStyle/>
          <a:p>
            <a:pPr marL="0" indent="0">
              <a:lnSpc>
                <a:spcPct val="110000"/>
              </a:lnSpc>
              <a:buNone/>
            </a:pPr>
            <a:r>
              <a:rPr lang="en-US" sz="1050" dirty="0">
                <a:solidFill>
                  <a:srgbClr val="1B1B1B"/>
                </a:solidFill>
                <a:latin typeface="Calibri" pitchFamily="34" charset="0"/>
                <a:ea typeface="Calibri" pitchFamily="34" charset="-122"/>
                <a:cs typeface="Calibri" pitchFamily="34" charset="-120"/>
              </a:rPr>
              <a:t>Sender/receiver balance-before/after fields are the dominant predictors — sudden balance drains or unusual receiver top-ups are the clearest fraud fingerprints in this dataset.</a:t>
            </a:r>
            <a:endParaRPr lang="en-US" sz="1050" dirty="0"/>
          </a:p>
        </p:txBody>
      </p:sp>
      <p:sp>
        <p:nvSpPr>
          <p:cNvPr id="19" name="Shape 17"/>
          <p:cNvSpPr/>
          <p:nvPr/>
        </p:nvSpPr>
        <p:spPr>
          <a:xfrm>
            <a:off x="548640" y="5138928"/>
            <a:ext cx="11109960" cy="1078992"/>
          </a:xfrm>
          <a:prstGeom prst="roundRect">
            <a:avLst>
              <a:gd name="adj" fmla="val 6780"/>
            </a:avLst>
          </a:prstGeom>
          <a:solidFill>
            <a:srgbClr val="FFFFFF"/>
          </a:solidFill>
          <a:ln w="9525">
            <a:solidFill>
              <a:srgbClr val="E2EFE6"/>
            </a:solidFill>
            <a:prstDash val="solid"/>
          </a:ln>
        </p:spPr>
        <p:txBody>
          <a:bodyPr/>
          <a:lstStyle/>
          <a:p>
            <a:endParaRPr lang="en-KE"/>
          </a:p>
        </p:txBody>
      </p:sp>
      <p:sp>
        <p:nvSpPr>
          <p:cNvPr id="20" name="Shape 18"/>
          <p:cNvSpPr/>
          <p:nvPr/>
        </p:nvSpPr>
        <p:spPr>
          <a:xfrm>
            <a:off x="749808" y="5385816"/>
            <a:ext cx="566928" cy="566928"/>
          </a:xfrm>
          <a:prstGeom prst="ellipse">
            <a:avLst/>
          </a:prstGeom>
          <a:solidFill>
            <a:srgbClr val="00A651"/>
          </a:solidFill>
          <a:ln/>
        </p:spPr>
        <p:txBody>
          <a:bodyPr/>
          <a:lstStyle/>
          <a:p>
            <a:endParaRPr lang="en-KE"/>
          </a:p>
        </p:txBody>
      </p:sp>
      <p:sp>
        <p:nvSpPr>
          <p:cNvPr id="21" name="Text 19"/>
          <p:cNvSpPr/>
          <p:nvPr/>
        </p:nvSpPr>
        <p:spPr>
          <a:xfrm>
            <a:off x="749808" y="5385816"/>
            <a:ext cx="566928" cy="56692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Text 20"/>
          <p:cNvSpPr/>
          <p:nvPr/>
        </p:nvSpPr>
        <p:spPr>
          <a:xfrm>
            <a:off x="1508760" y="5230368"/>
            <a:ext cx="9966960" cy="320040"/>
          </a:xfrm>
          <a:prstGeom prst="rect">
            <a:avLst/>
          </a:prstGeom>
          <a:noFill/>
          <a:ln/>
        </p:spPr>
        <p:txBody>
          <a:bodyPr wrap="square" rtlCol="0" anchor="ctr"/>
          <a:lstStyle/>
          <a:p>
            <a:pPr marL="0" indent="0">
              <a:buNone/>
            </a:pPr>
            <a:r>
              <a:rPr lang="en-US" sz="1300" b="1" dirty="0">
                <a:solidFill>
                  <a:srgbClr val="0B3B22"/>
                </a:solidFill>
                <a:latin typeface="Cambria" pitchFamily="34" charset="0"/>
                <a:ea typeface="Cambria" pitchFamily="34" charset="-122"/>
                <a:cs typeface="Cambria" pitchFamily="34" charset="-120"/>
              </a:rPr>
              <a:t>KNN is the weakest fit for this problem</a:t>
            </a:r>
            <a:endParaRPr lang="en-US" sz="1300" dirty="0"/>
          </a:p>
        </p:txBody>
      </p:sp>
      <p:sp>
        <p:nvSpPr>
          <p:cNvPr id="23" name="Text 21"/>
          <p:cNvSpPr/>
          <p:nvPr/>
        </p:nvSpPr>
        <p:spPr>
          <a:xfrm>
            <a:off x="1508760" y="5550408"/>
            <a:ext cx="9966960" cy="621792"/>
          </a:xfrm>
          <a:prstGeom prst="rect">
            <a:avLst/>
          </a:prstGeom>
          <a:noFill/>
          <a:ln/>
        </p:spPr>
        <p:txBody>
          <a:bodyPr wrap="square" rtlCol="0" anchor="t"/>
          <a:lstStyle/>
          <a:p>
            <a:pPr marL="0" indent="0">
              <a:lnSpc>
                <a:spcPct val="110000"/>
              </a:lnSpc>
              <a:buNone/>
            </a:pPr>
            <a:r>
              <a:rPr lang="en-US" sz="1050" dirty="0">
                <a:solidFill>
                  <a:srgbClr val="1B1B1B"/>
                </a:solidFill>
                <a:latin typeface="Calibri" pitchFamily="34" charset="0"/>
                <a:ea typeface="Calibri" pitchFamily="34" charset="-122"/>
                <a:cs typeface="Calibri" pitchFamily="34" charset="-120"/>
              </a:rPr>
              <a:t>Its reliance on raw distance is diluted by the mix of scaled numeric balances and sparse one-hot channel/device flags, and it has no natural way to weight feature importance.</a:t>
            </a:r>
            <a:endParaRPr lang="en-US" sz="1050" dirty="0"/>
          </a:p>
        </p:txBody>
      </p:sp>
      <p:sp>
        <p:nvSpPr>
          <p:cNvPr id="24" name="Text 22"/>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B62"/>
                </a:solidFill>
                <a:latin typeface="Calibri" pitchFamily="34" charset="0"/>
                <a:ea typeface="Calibri" pitchFamily="34" charset="-122"/>
                <a:cs typeface="Calibri" pitchFamily="34" charset="-120"/>
              </a:rPr>
              <a:t>DAT 3202 · Machine Learning Mini Project · M-Pesa Fraud Detection</a:t>
            </a:r>
            <a:endParaRPr lang="en-US" sz="900" dirty="0"/>
          </a:p>
        </p:txBody>
      </p:sp>
      <p:sp>
        <p:nvSpPr>
          <p:cNvPr id="25" name="Text 2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B6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3B22"/>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0E4A2C"/>
          </a:solidFill>
          <a:ln/>
        </p:spPr>
        <p:txBody>
          <a:bodyPr/>
          <a:lstStyle/>
          <a:p>
            <a:endParaRPr lang="en-KE"/>
          </a:p>
        </p:txBody>
      </p:sp>
      <p:sp>
        <p:nvSpPr>
          <p:cNvPr id="3" name="Text 1"/>
          <p:cNvSpPr/>
          <p:nvPr/>
        </p:nvSpPr>
        <p:spPr>
          <a:xfrm>
            <a:off x="640080" y="548640"/>
            <a:ext cx="73152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4" name="Text 2"/>
          <p:cNvSpPr/>
          <p:nvPr/>
        </p:nvSpPr>
        <p:spPr>
          <a:xfrm>
            <a:off x="640080" y="1371600"/>
            <a:ext cx="10789920" cy="1554480"/>
          </a:xfrm>
          <a:prstGeom prst="rect">
            <a:avLst/>
          </a:prstGeom>
          <a:noFill/>
          <a:ln/>
        </p:spPr>
        <p:txBody>
          <a:bodyPr wrap="square" rtlCol="0" anchor="t"/>
          <a:lstStyle/>
          <a:p>
            <a:pPr marL="0" indent="0">
              <a:lnSpc>
                <a:spcPct val="130000"/>
              </a:lnSpc>
              <a:buNone/>
            </a:pPr>
            <a:r>
              <a:rPr lang="en-US" sz="1450" dirty="0">
                <a:solidFill>
                  <a:srgbClr val="E9F5EE"/>
                </a:solidFill>
                <a:latin typeface="Calibri" pitchFamily="34" charset="0"/>
                <a:ea typeface="Calibri" pitchFamily="34" charset="-122"/>
                <a:cs typeface="Calibri" pitchFamily="34" charset="-120"/>
              </a:rPr>
              <a:t>Machine learning can reliably separate fraudulent from legitimate M-Pesa transactions even under severe class imbalance (2.9% fraud). Across KNN, Decision Tree, ANN and SVM — each tuned with 2-fold cross-validated grid search — the </a:t>
            </a:r>
            <a:r>
              <a:rPr lang="en-US" sz="1450" b="1" dirty="0">
                <a:solidFill>
                  <a:srgbClr val="7FD9A5"/>
                </a:solidFill>
                <a:latin typeface="Calibri" pitchFamily="34" charset="0"/>
                <a:ea typeface="Calibri" pitchFamily="34" charset="-122"/>
                <a:cs typeface="Calibri" pitchFamily="34" charset="-120"/>
              </a:rPr>
              <a:t>Decision Tree offered the best overall balance </a:t>
            </a:r>
            <a:r>
              <a:rPr lang="en-US" sz="1450" dirty="0">
                <a:solidFill>
                  <a:srgbClr val="E9F5EE"/>
                </a:solidFill>
                <a:latin typeface="Calibri" pitchFamily="34" charset="0"/>
                <a:ea typeface="Calibri" pitchFamily="34" charset="-122"/>
                <a:cs typeface="Calibri" pitchFamily="34" charset="-120"/>
              </a:rPr>
              <a:t>(F1 = 0.783), while the </a:t>
            </a:r>
            <a:r>
              <a:rPr lang="en-US" sz="1450" b="1" dirty="0">
                <a:solidFill>
                  <a:srgbClr val="7FD9A5"/>
                </a:solidFill>
                <a:latin typeface="Calibri" pitchFamily="34" charset="0"/>
                <a:ea typeface="Calibri" pitchFamily="34" charset="-122"/>
                <a:cs typeface="Calibri" pitchFamily="34" charset="-120"/>
              </a:rPr>
              <a:t>ANN ranked risk most reliably </a:t>
            </a:r>
            <a:r>
              <a:rPr lang="en-US" sz="1450" dirty="0">
                <a:solidFill>
                  <a:srgbClr val="E9F5EE"/>
                </a:solidFill>
                <a:latin typeface="Calibri" pitchFamily="34" charset="0"/>
                <a:ea typeface="Calibri" pitchFamily="34" charset="-122"/>
                <a:cs typeface="Calibri" pitchFamily="34" charset="-120"/>
              </a:rPr>
              <a:t>(ROC-AUC = 0.840) and the </a:t>
            </a:r>
            <a:r>
              <a:rPr lang="en-US" sz="1450" b="1" dirty="0">
                <a:solidFill>
                  <a:srgbClr val="7FD9A5"/>
                </a:solidFill>
                <a:latin typeface="Calibri" pitchFamily="34" charset="0"/>
                <a:ea typeface="Calibri" pitchFamily="34" charset="-122"/>
                <a:cs typeface="Calibri" pitchFamily="34" charset="-120"/>
              </a:rPr>
              <a:t>SVM produced zero false alarms.</a:t>
            </a:r>
            <a:endParaRPr lang="en-US" sz="1450" dirty="0"/>
          </a:p>
        </p:txBody>
      </p:sp>
      <p:sp>
        <p:nvSpPr>
          <p:cNvPr id="5" name="Shape 3"/>
          <p:cNvSpPr/>
          <p:nvPr/>
        </p:nvSpPr>
        <p:spPr>
          <a:xfrm>
            <a:off x="640080" y="3200400"/>
            <a:ext cx="3520440" cy="2926080"/>
          </a:xfrm>
          <a:prstGeom prst="roundRect">
            <a:avLst>
              <a:gd name="adj" fmla="val 2500"/>
            </a:avLst>
          </a:prstGeom>
          <a:solidFill>
            <a:srgbClr val="0E4A2C"/>
          </a:solidFill>
          <a:ln/>
        </p:spPr>
        <p:txBody>
          <a:bodyPr/>
          <a:lstStyle/>
          <a:p>
            <a:endParaRPr lang="en-KE"/>
          </a:p>
        </p:txBody>
      </p:sp>
      <p:sp>
        <p:nvSpPr>
          <p:cNvPr id="6" name="Text 4"/>
          <p:cNvSpPr/>
          <p:nvPr/>
        </p:nvSpPr>
        <p:spPr>
          <a:xfrm>
            <a:off x="868680" y="3401568"/>
            <a:ext cx="3108960" cy="457200"/>
          </a:xfrm>
          <a:prstGeom prst="rect">
            <a:avLst/>
          </a:prstGeom>
          <a:noFill/>
          <a:ln/>
        </p:spPr>
        <p:txBody>
          <a:bodyPr wrap="square" rtlCol="0" anchor="ctr"/>
          <a:lstStyle/>
          <a:p>
            <a:pPr marL="0" indent="0">
              <a:buNone/>
            </a:pPr>
            <a:r>
              <a:rPr lang="en-US" sz="1400" b="1" dirty="0">
                <a:solidFill>
                  <a:srgbClr val="00A651"/>
                </a:solidFill>
                <a:latin typeface="Cambria" pitchFamily="34" charset="0"/>
                <a:ea typeface="Cambria" pitchFamily="34" charset="-122"/>
                <a:cs typeface="Cambria" pitchFamily="34" charset="-120"/>
              </a:rPr>
              <a:t>Recommended path</a:t>
            </a:r>
            <a:endParaRPr lang="en-US" sz="1400" dirty="0"/>
          </a:p>
        </p:txBody>
      </p:sp>
      <p:sp>
        <p:nvSpPr>
          <p:cNvPr id="7" name="Text 5"/>
          <p:cNvSpPr/>
          <p:nvPr/>
        </p:nvSpPr>
        <p:spPr>
          <a:xfrm>
            <a:off x="868680" y="3886200"/>
            <a:ext cx="3108960" cy="2103120"/>
          </a:xfrm>
          <a:prstGeom prst="rect">
            <a:avLst/>
          </a:prstGeom>
          <a:noFill/>
          <a:ln/>
        </p:spPr>
        <p:txBody>
          <a:bodyPr wrap="square" rtlCol="0" anchor="t"/>
          <a:lstStyle/>
          <a:p>
            <a:pPr marL="0" indent="0">
              <a:lnSpc>
                <a:spcPct val="125000"/>
              </a:lnSpc>
              <a:buNone/>
            </a:pPr>
            <a:r>
              <a:rPr lang="en-US" sz="1100" dirty="0">
                <a:solidFill>
                  <a:srgbClr val="E9F5EE"/>
                </a:solidFill>
                <a:latin typeface="Calibri" pitchFamily="34" charset="0"/>
                <a:ea typeface="Calibri" pitchFamily="34" charset="-122"/>
                <a:cs typeface="Calibri" pitchFamily="34" charset="-120"/>
              </a:rPr>
              <a:t>Deploy a Decision Tree (or ensemble of trees) as the primary screen, with ANN risk scores as a secondary ranking signal for manual review queues.</a:t>
            </a:r>
            <a:endParaRPr lang="en-US" sz="1100" dirty="0"/>
          </a:p>
        </p:txBody>
      </p:sp>
      <p:sp>
        <p:nvSpPr>
          <p:cNvPr id="8" name="Shape 6"/>
          <p:cNvSpPr/>
          <p:nvPr/>
        </p:nvSpPr>
        <p:spPr>
          <a:xfrm>
            <a:off x="4389120" y="3200400"/>
            <a:ext cx="3520440" cy="2926080"/>
          </a:xfrm>
          <a:prstGeom prst="roundRect">
            <a:avLst>
              <a:gd name="adj" fmla="val 2500"/>
            </a:avLst>
          </a:prstGeom>
          <a:solidFill>
            <a:srgbClr val="0E4A2C"/>
          </a:solidFill>
          <a:ln/>
        </p:spPr>
        <p:txBody>
          <a:bodyPr/>
          <a:lstStyle/>
          <a:p>
            <a:endParaRPr lang="en-KE"/>
          </a:p>
        </p:txBody>
      </p:sp>
      <p:sp>
        <p:nvSpPr>
          <p:cNvPr id="9" name="Text 7"/>
          <p:cNvSpPr/>
          <p:nvPr/>
        </p:nvSpPr>
        <p:spPr>
          <a:xfrm>
            <a:off x="4617720" y="3401568"/>
            <a:ext cx="3108960" cy="457200"/>
          </a:xfrm>
          <a:prstGeom prst="rect">
            <a:avLst/>
          </a:prstGeom>
          <a:noFill/>
          <a:ln/>
        </p:spPr>
        <p:txBody>
          <a:bodyPr wrap="square" rtlCol="0" anchor="ctr"/>
          <a:lstStyle/>
          <a:p>
            <a:pPr marL="0" indent="0">
              <a:buNone/>
            </a:pPr>
            <a:r>
              <a:rPr lang="en-US" sz="1400" b="1" dirty="0">
                <a:solidFill>
                  <a:srgbClr val="00A651"/>
                </a:solidFill>
                <a:latin typeface="Cambria" pitchFamily="34" charset="0"/>
                <a:ea typeface="Cambria" pitchFamily="34" charset="-122"/>
                <a:cs typeface="Cambria" pitchFamily="34" charset="-120"/>
              </a:rPr>
              <a:t>Limitations</a:t>
            </a:r>
            <a:endParaRPr lang="en-US" sz="1400" dirty="0"/>
          </a:p>
        </p:txBody>
      </p:sp>
      <p:sp>
        <p:nvSpPr>
          <p:cNvPr id="10" name="Text 8"/>
          <p:cNvSpPr/>
          <p:nvPr/>
        </p:nvSpPr>
        <p:spPr>
          <a:xfrm>
            <a:off x="4617720" y="3886200"/>
            <a:ext cx="3108960" cy="2103120"/>
          </a:xfrm>
          <a:prstGeom prst="rect">
            <a:avLst/>
          </a:prstGeom>
          <a:noFill/>
          <a:ln/>
        </p:spPr>
        <p:txBody>
          <a:bodyPr wrap="square" rtlCol="0" anchor="t"/>
          <a:lstStyle/>
          <a:p>
            <a:pPr marL="0" indent="0">
              <a:lnSpc>
                <a:spcPct val="125000"/>
              </a:lnSpc>
              <a:buNone/>
            </a:pPr>
            <a:r>
              <a:rPr lang="en-US" sz="1100" dirty="0">
                <a:solidFill>
                  <a:srgbClr val="E9F5EE"/>
                </a:solidFill>
                <a:latin typeface="Calibri" pitchFamily="34" charset="0"/>
                <a:ea typeface="Calibri" pitchFamily="34" charset="-122"/>
                <a:cs typeface="Calibri" pitchFamily="34" charset="-120"/>
              </a:rPr>
              <a:t>Synthetic dataset; no oversampling/undersampling (e.g. SMOTE) attempted; only 2-fold CV as required by the brief, which limits hyper-parameter stability.</a:t>
            </a:r>
            <a:endParaRPr lang="en-US" sz="1100" dirty="0"/>
          </a:p>
        </p:txBody>
      </p:sp>
      <p:sp>
        <p:nvSpPr>
          <p:cNvPr id="11" name="Shape 9"/>
          <p:cNvSpPr/>
          <p:nvPr/>
        </p:nvSpPr>
        <p:spPr>
          <a:xfrm>
            <a:off x="8138160" y="3200400"/>
            <a:ext cx="3520440" cy="2926080"/>
          </a:xfrm>
          <a:prstGeom prst="roundRect">
            <a:avLst>
              <a:gd name="adj" fmla="val 2500"/>
            </a:avLst>
          </a:prstGeom>
          <a:solidFill>
            <a:srgbClr val="0E4A2C"/>
          </a:solidFill>
          <a:ln/>
        </p:spPr>
        <p:txBody>
          <a:bodyPr/>
          <a:lstStyle/>
          <a:p>
            <a:endParaRPr lang="en-KE"/>
          </a:p>
        </p:txBody>
      </p:sp>
      <p:sp>
        <p:nvSpPr>
          <p:cNvPr id="12" name="Text 10"/>
          <p:cNvSpPr/>
          <p:nvPr/>
        </p:nvSpPr>
        <p:spPr>
          <a:xfrm>
            <a:off x="8366760" y="3401568"/>
            <a:ext cx="3108960" cy="457200"/>
          </a:xfrm>
          <a:prstGeom prst="rect">
            <a:avLst/>
          </a:prstGeom>
          <a:noFill/>
          <a:ln/>
        </p:spPr>
        <p:txBody>
          <a:bodyPr wrap="square" rtlCol="0" anchor="ctr"/>
          <a:lstStyle/>
          <a:p>
            <a:pPr marL="0" indent="0">
              <a:buNone/>
            </a:pPr>
            <a:r>
              <a:rPr lang="en-US" sz="1400" b="1" dirty="0">
                <a:solidFill>
                  <a:srgbClr val="00A651"/>
                </a:solidFill>
                <a:latin typeface="Cambria" pitchFamily="34" charset="0"/>
                <a:ea typeface="Cambria" pitchFamily="34" charset="-122"/>
                <a:cs typeface="Cambria" pitchFamily="34" charset="-120"/>
              </a:rPr>
              <a:t>Future work</a:t>
            </a:r>
            <a:endParaRPr lang="en-US" sz="1400" dirty="0"/>
          </a:p>
        </p:txBody>
      </p:sp>
      <p:sp>
        <p:nvSpPr>
          <p:cNvPr id="13" name="Text 11"/>
          <p:cNvSpPr/>
          <p:nvPr/>
        </p:nvSpPr>
        <p:spPr>
          <a:xfrm>
            <a:off x="8366760" y="3886200"/>
            <a:ext cx="3108960" cy="2103120"/>
          </a:xfrm>
          <a:prstGeom prst="rect">
            <a:avLst/>
          </a:prstGeom>
          <a:noFill/>
          <a:ln/>
        </p:spPr>
        <p:txBody>
          <a:bodyPr wrap="square" rtlCol="0" anchor="t"/>
          <a:lstStyle/>
          <a:p>
            <a:pPr marL="0" indent="0">
              <a:lnSpc>
                <a:spcPct val="125000"/>
              </a:lnSpc>
              <a:buNone/>
            </a:pPr>
            <a:r>
              <a:rPr lang="en-US" sz="1100" dirty="0">
                <a:solidFill>
                  <a:srgbClr val="E9F5EE"/>
                </a:solidFill>
                <a:latin typeface="Calibri" pitchFamily="34" charset="0"/>
                <a:ea typeface="Calibri" pitchFamily="34" charset="-122"/>
                <a:cs typeface="Calibri" pitchFamily="34" charset="-120"/>
              </a:rPr>
              <a:t>Validate against real Safaricom transaction logs, test ensemble/boosting methods, and add SIM-swap or device-change signals not present in this dataset.</a:t>
            </a:r>
            <a:endParaRPr lang="en-US" sz="1100" dirty="0"/>
          </a:p>
        </p:txBody>
      </p:sp>
      <p:sp>
        <p:nvSpPr>
          <p:cNvPr id="14" name="Text 12"/>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BFE3CC"/>
                </a:solidFill>
                <a:latin typeface="Calibri" pitchFamily="34" charset="0"/>
                <a:ea typeface="Calibri" pitchFamily="34" charset="-122"/>
                <a:cs typeface="Calibri" pitchFamily="34" charset="-120"/>
              </a:rPr>
              <a:t>DAT 3202 · Machine Learning Mini Project · M-Pesa Fraud Detection</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BFE3C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marL="0" indent="0">
              <a:buNone/>
            </a:pPr>
            <a:r>
              <a:rPr lang="en-US" sz="3000" b="1" dirty="0">
                <a:solidFill>
                  <a:srgbClr val="1B1B1B"/>
                </a:solidFill>
                <a:latin typeface="Cambria" pitchFamily="34" charset="0"/>
                <a:ea typeface="Cambria" pitchFamily="34" charset="-122"/>
                <a:cs typeface="Cambria" pitchFamily="34" charset="-120"/>
              </a:rPr>
              <a:t>References</a:t>
            </a:r>
            <a:endParaRPr lang="en-US" sz="3000" dirty="0"/>
          </a:p>
        </p:txBody>
      </p:sp>
      <p:sp>
        <p:nvSpPr>
          <p:cNvPr id="3" name="Shape 1"/>
          <p:cNvSpPr/>
          <p:nvPr/>
        </p:nvSpPr>
        <p:spPr>
          <a:xfrm>
            <a:off x="548640" y="1261872"/>
            <a:ext cx="91440" cy="91440"/>
          </a:xfrm>
          <a:prstGeom prst="ellipse">
            <a:avLst/>
          </a:prstGeom>
          <a:solidFill>
            <a:srgbClr val="00A651"/>
          </a:solidFill>
          <a:ln/>
        </p:spPr>
        <p:txBody>
          <a:bodyPr/>
          <a:lstStyle/>
          <a:p>
            <a:endParaRPr lang="en-KE"/>
          </a:p>
        </p:txBody>
      </p:sp>
      <p:sp>
        <p:nvSpPr>
          <p:cNvPr id="4" name="Text 2"/>
          <p:cNvSpPr/>
          <p:nvPr/>
        </p:nvSpPr>
        <p:spPr>
          <a:xfrm>
            <a:off x="822960" y="1115568"/>
            <a:ext cx="10698480" cy="594360"/>
          </a:xfrm>
          <a:prstGeom prst="rect">
            <a:avLst/>
          </a:prstGeom>
          <a:noFill/>
          <a:ln/>
        </p:spPr>
        <p:txBody>
          <a:bodyPr wrap="square" rtlCol="0" anchor="t"/>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Botchey, F. E., Qin, Z., &amp; Hughes-Lartey, K. (2022). An Evaluation of Machine Learning Methods to Predict Fraud in Mobile Money Transactions. International Journal of Engineering Research &amp; Technology (IJERT).</a:t>
            </a:r>
            <a:endParaRPr lang="en-US" sz="1150" dirty="0"/>
          </a:p>
        </p:txBody>
      </p:sp>
      <p:sp>
        <p:nvSpPr>
          <p:cNvPr id="5" name="Shape 3"/>
          <p:cNvSpPr/>
          <p:nvPr/>
        </p:nvSpPr>
        <p:spPr>
          <a:xfrm>
            <a:off x="548640" y="1920240"/>
            <a:ext cx="91440" cy="91440"/>
          </a:xfrm>
          <a:prstGeom prst="ellipse">
            <a:avLst/>
          </a:prstGeom>
          <a:solidFill>
            <a:srgbClr val="00A651"/>
          </a:solidFill>
          <a:ln/>
        </p:spPr>
        <p:txBody>
          <a:bodyPr/>
          <a:lstStyle/>
          <a:p>
            <a:endParaRPr lang="en-KE"/>
          </a:p>
        </p:txBody>
      </p:sp>
      <p:sp>
        <p:nvSpPr>
          <p:cNvPr id="6" name="Text 4"/>
          <p:cNvSpPr/>
          <p:nvPr/>
        </p:nvSpPr>
        <p:spPr>
          <a:xfrm>
            <a:off x="822960" y="1773936"/>
            <a:ext cx="10698480" cy="594360"/>
          </a:xfrm>
          <a:prstGeom prst="rect">
            <a:avLst/>
          </a:prstGeom>
          <a:noFill/>
          <a:ln/>
        </p:spPr>
        <p:txBody>
          <a:bodyPr wrap="square" rtlCol="0" anchor="t"/>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Lokanan, M. (2023). Predicting mobile money transaction fraud using machine learning algorithms. Applied AI Letters, Wiley.</a:t>
            </a:r>
            <a:endParaRPr lang="en-US" sz="1150" dirty="0"/>
          </a:p>
        </p:txBody>
      </p:sp>
      <p:sp>
        <p:nvSpPr>
          <p:cNvPr id="7" name="Shape 5"/>
          <p:cNvSpPr/>
          <p:nvPr/>
        </p:nvSpPr>
        <p:spPr>
          <a:xfrm>
            <a:off x="548640" y="2578608"/>
            <a:ext cx="91440" cy="91440"/>
          </a:xfrm>
          <a:prstGeom prst="ellipse">
            <a:avLst/>
          </a:prstGeom>
          <a:solidFill>
            <a:srgbClr val="00A651"/>
          </a:solidFill>
          <a:ln/>
        </p:spPr>
        <p:txBody>
          <a:bodyPr/>
          <a:lstStyle/>
          <a:p>
            <a:endParaRPr lang="en-KE"/>
          </a:p>
        </p:txBody>
      </p:sp>
      <p:sp>
        <p:nvSpPr>
          <p:cNvPr id="8" name="Text 6"/>
          <p:cNvSpPr/>
          <p:nvPr/>
        </p:nvSpPr>
        <p:spPr>
          <a:xfrm>
            <a:off x="822960" y="2432304"/>
            <a:ext cx="10698480" cy="594360"/>
          </a:xfrm>
          <a:prstGeom prst="rect">
            <a:avLst/>
          </a:prstGeom>
          <a:noFill/>
          <a:ln/>
        </p:spPr>
        <p:txBody>
          <a:bodyPr wrap="square" rtlCol="0" anchor="t"/>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Mobile Money Fraud Prediction — A Cross-Case Analysis on the Efficiency of SVM, Gradient Boosted Decision Trees, and Naïve Bayes Algorithms. (2020). Information, MDPI, 11(8), 383.</a:t>
            </a:r>
            <a:endParaRPr lang="en-US" sz="1150" dirty="0"/>
          </a:p>
        </p:txBody>
      </p:sp>
      <p:sp>
        <p:nvSpPr>
          <p:cNvPr id="9" name="Shape 7"/>
          <p:cNvSpPr/>
          <p:nvPr/>
        </p:nvSpPr>
        <p:spPr>
          <a:xfrm>
            <a:off x="548640" y="3236976"/>
            <a:ext cx="91440" cy="91440"/>
          </a:xfrm>
          <a:prstGeom prst="ellipse">
            <a:avLst/>
          </a:prstGeom>
          <a:solidFill>
            <a:srgbClr val="00A651"/>
          </a:solidFill>
          <a:ln/>
        </p:spPr>
        <p:txBody>
          <a:bodyPr/>
          <a:lstStyle/>
          <a:p>
            <a:endParaRPr lang="en-KE"/>
          </a:p>
        </p:txBody>
      </p:sp>
      <p:sp>
        <p:nvSpPr>
          <p:cNvPr id="10" name="Text 8"/>
          <p:cNvSpPr/>
          <p:nvPr/>
        </p:nvSpPr>
        <p:spPr>
          <a:xfrm>
            <a:off x="822960" y="3090672"/>
            <a:ext cx="10698480" cy="594360"/>
          </a:xfrm>
          <a:prstGeom prst="rect">
            <a:avLst/>
          </a:prstGeom>
          <a:noFill/>
          <a:ln/>
        </p:spPr>
        <p:txBody>
          <a:bodyPr wrap="square" rtlCol="0" anchor="t"/>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GSMA (2023) &amp; World Bank (2021), as cited in: Advanced fraud detection using machine learning models: enhancing financial transaction security. ResearchGate.</a:t>
            </a:r>
            <a:endParaRPr lang="en-US" sz="1150" dirty="0"/>
          </a:p>
        </p:txBody>
      </p:sp>
      <p:sp>
        <p:nvSpPr>
          <p:cNvPr id="11" name="Shape 9"/>
          <p:cNvSpPr/>
          <p:nvPr/>
        </p:nvSpPr>
        <p:spPr>
          <a:xfrm>
            <a:off x="548640" y="3895344"/>
            <a:ext cx="91440" cy="91440"/>
          </a:xfrm>
          <a:prstGeom prst="ellipse">
            <a:avLst/>
          </a:prstGeom>
          <a:solidFill>
            <a:srgbClr val="00A651"/>
          </a:solidFill>
          <a:ln/>
        </p:spPr>
        <p:txBody>
          <a:bodyPr/>
          <a:lstStyle/>
          <a:p>
            <a:endParaRPr lang="en-KE"/>
          </a:p>
        </p:txBody>
      </p:sp>
      <p:sp>
        <p:nvSpPr>
          <p:cNvPr id="12" name="Text 10"/>
          <p:cNvSpPr/>
          <p:nvPr/>
        </p:nvSpPr>
        <p:spPr>
          <a:xfrm>
            <a:off x="822960" y="3749040"/>
            <a:ext cx="10698480" cy="594360"/>
          </a:xfrm>
          <a:prstGeom prst="rect">
            <a:avLst/>
          </a:prstGeom>
          <a:noFill/>
          <a:ln/>
        </p:spPr>
        <p:txBody>
          <a:bodyPr wrap="square" rtlCol="0" anchor="t"/>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Jack, W., &amp; Suri, T. Mobile Payments go Viral: M-PESA in Kenya. World Bank.</a:t>
            </a:r>
            <a:endParaRPr lang="en-US" sz="1150" dirty="0"/>
          </a:p>
        </p:txBody>
      </p:sp>
      <p:sp>
        <p:nvSpPr>
          <p:cNvPr id="13" name="Shape 11"/>
          <p:cNvSpPr/>
          <p:nvPr/>
        </p:nvSpPr>
        <p:spPr>
          <a:xfrm>
            <a:off x="548640" y="4553712"/>
            <a:ext cx="91440" cy="91440"/>
          </a:xfrm>
          <a:prstGeom prst="ellipse">
            <a:avLst/>
          </a:prstGeom>
          <a:solidFill>
            <a:srgbClr val="00A651"/>
          </a:solidFill>
          <a:ln/>
        </p:spPr>
        <p:txBody>
          <a:bodyPr/>
          <a:lstStyle/>
          <a:p>
            <a:endParaRPr lang="en-KE"/>
          </a:p>
        </p:txBody>
      </p:sp>
      <p:sp>
        <p:nvSpPr>
          <p:cNvPr id="14" name="Text 12"/>
          <p:cNvSpPr/>
          <p:nvPr/>
        </p:nvSpPr>
        <p:spPr>
          <a:xfrm>
            <a:off x="822960" y="4407408"/>
            <a:ext cx="10698480" cy="594360"/>
          </a:xfrm>
          <a:prstGeom prst="rect">
            <a:avLst/>
          </a:prstGeom>
          <a:noFill/>
          <a:ln/>
        </p:spPr>
        <p:txBody>
          <a:bodyPr wrap="square" rtlCol="0" anchor="t"/>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Dataset: calebboen. M-Pesa Transactions Fraud [Data set]. Kaggle. kaggle.com/datasets/calebboen/mpesa-transactions-fraud</a:t>
            </a:r>
            <a:endParaRPr lang="en-US" sz="1150" dirty="0"/>
          </a:p>
        </p:txBody>
      </p:sp>
      <p:sp>
        <p:nvSpPr>
          <p:cNvPr id="15" name="Shape 13"/>
          <p:cNvSpPr/>
          <p:nvPr/>
        </p:nvSpPr>
        <p:spPr>
          <a:xfrm>
            <a:off x="548640" y="5212080"/>
            <a:ext cx="91440" cy="91440"/>
          </a:xfrm>
          <a:prstGeom prst="ellipse">
            <a:avLst/>
          </a:prstGeom>
          <a:solidFill>
            <a:srgbClr val="00A651"/>
          </a:solidFill>
          <a:ln/>
        </p:spPr>
        <p:txBody>
          <a:bodyPr/>
          <a:lstStyle/>
          <a:p>
            <a:endParaRPr lang="en-KE"/>
          </a:p>
        </p:txBody>
      </p:sp>
      <p:sp>
        <p:nvSpPr>
          <p:cNvPr id="16" name="Text 14"/>
          <p:cNvSpPr/>
          <p:nvPr/>
        </p:nvSpPr>
        <p:spPr>
          <a:xfrm>
            <a:off x="822960" y="5065776"/>
            <a:ext cx="10698480" cy="594360"/>
          </a:xfrm>
          <a:prstGeom prst="rect">
            <a:avLst/>
          </a:prstGeom>
          <a:noFill/>
          <a:ln/>
        </p:spPr>
        <p:txBody>
          <a:bodyPr wrap="square" rtlCol="0" anchor="t"/>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scikit-learn developers. scikit-learn: Machine Learning in Python. (KNeighborsClassifier, DecisionTreeClassifier, MLPClassifier, LinearSVC, GridSearchCV, StandardScaler).</a:t>
            </a:r>
            <a:endParaRPr lang="en-US" sz="1150" dirty="0"/>
          </a:p>
        </p:txBody>
      </p:sp>
      <p:sp>
        <p:nvSpPr>
          <p:cNvPr id="17" name="Text 15"/>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B62"/>
                </a:solidFill>
                <a:latin typeface="Calibri" pitchFamily="34" charset="0"/>
                <a:ea typeface="Calibri" pitchFamily="34" charset="-122"/>
                <a:cs typeface="Calibri" pitchFamily="34" charset="-120"/>
              </a:rPr>
              <a:t>DAT 3202 · Machine Learning Mini Project · M-Pesa Fraud Detection</a:t>
            </a:r>
            <a:endParaRPr lang="en-US" sz="900" dirty="0"/>
          </a:p>
        </p:txBody>
      </p:sp>
      <p:sp>
        <p:nvSpPr>
          <p:cNvPr id="18" name="Text 16"/>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B6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2164</Words>
  <Application>Microsoft Office PowerPoint</Application>
  <PresentationFormat>Widescreen</PresentationFormat>
  <Paragraphs>212</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Leone Floyd</cp:lastModifiedBy>
  <cp:revision>3</cp:revision>
  <dcterms:created xsi:type="dcterms:W3CDTF">2026-07-17T07:22:07Z</dcterms:created>
  <dcterms:modified xsi:type="dcterms:W3CDTF">2026-09-27T15:40:37Z</dcterms:modified>
</cp:coreProperties>
</file>